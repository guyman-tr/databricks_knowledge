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6FB0D9"/>
                </a:solidFill>
                <a:latin typeface="Segoe UI"/>
              </a:rPr>
              <a:t>EXECUTIVE BRIEFING · 2026-06-08 ·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egoe UI"/>
              </a:rPr>
              <a:t>Self-service analytics at eToro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0" i="0">
                <a:solidFill>
                  <a:srgbClr val="B7CFE6"/>
                </a:solidFill>
                <a:latin typeface="Segoe UI"/>
              </a:rPr>
              <a:t>Three acts: what we learned from Anthropic, what we already built, and the roadmap we're proposing.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29000"/>
            <a:ext cx="3611880" cy="1188720"/>
          </a:xfrm>
          <a:prstGeom prst="rect">
            <a:avLst/>
          </a:prstGeom>
          <a:solidFill>
            <a:srgbClr val="142D4F"/>
          </a:solidFill>
          <a:ln>
            <a:solidFill>
              <a:srgbClr val="295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3246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6FB0D9"/>
                </a:solidFill>
                <a:latin typeface="Segoe UI"/>
              </a:rPr>
              <a:t>ACT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40"/>
            <a:ext cx="3246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3246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B7CFE6"/>
                </a:solidFill>
                <a:latin typeface="Segoe UI"/>
              </a:rPr>
              <a:t>What Anthropic's article taught us about how self-service analytics actually 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429000"/>
            <a:ext cx="3611880" cy="1188720"/>
          </a:xfrm>
          <a:prstGeom prst="rect">
            <a:avLst/>
          </a:prstGeom>
          <a:solidFill>
            <a:srgbClr val="142D4F"/>
          </a:solidFill>
          <a:ln>
            <a:solidFill>
              <a:srgbClr val="295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520440"/>
            <a:ext cx="3246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6FB0D9"/>
                </a:solidFill>
                <a:latin typeface="Segoe UI"/>
              </a:rPr>
              <a:t>ACT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49040"/>
            <a:ext cx="3246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114800"/>
            <a:ext cx="3246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B7CFE6"/>
                </a:solidFill>
                <a:latin typeface="Segoe UI"/>
              </a:rPr>
              <a:t>Where eToro already stands against that framework — including one deliberate non-adoption.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429000"/>
            <a:ext cx="3611880" cy="1188720"/>
          </a:xfrm>
          <a:prstGeom prst="rect">
            <a:avLst/>
          </a:prstGeom>
          <a:solidFill>
            <a:srgbClr val="142D4F"/>
          </a:solidFill>
          <a:ln>
            <a:solidFill>
              <a:srgbClr val="295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3520440"/>
            <a:ext cx="3246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6FB0D9"/>
                </a:solidFill>
                <a:latin typeface="Segoe UI"/>
              </a:rPr>
              <a:t>ACT 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49040"/>
            <a:ext cx="3246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Action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114800"/>
            <a:ext cx="32461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B7CFE6"/>
                </a:solidFill>
                <a:latin typeface="Segoe UI"/>
              </a:rPr>
              <a:t>The roadmap. Six task families. Everything we plan to do, broken into sub-tasks.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1">
                <a:solidFill>
                  <a:srgbClr val="B7CFE6"/>
                </a:solidFill>
                <a:latin typeface="Segoe UI"/>
              </a:rPr>
              <a:t>Source: How Anthropic enables self-service data analytics with Claude (claude.com/blog, 2026-06-03)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B7CFE6"/>
                </a:solidFill>
                <a:latin typeface="Segoe UI"/>
              </a:rPr>
              <a:t>Audience: Data leadership · Eng leadership · Analyst-team leads   |   Read time: ~10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1">
                <a:solidFill>
                  <a:srgbClr val="B7CFE6"/>
                </a:solidFill>
                <a:latin typeface="Segoe UI"/>
              </a:rPr>
              <a:t>No effort numbers — task families and sub-tasks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6FB0D9"/>
                </a:solidFill>
                <a:latin typeface="Segoe UI"/>
              </a:rPr>
              <a:t>ACT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1">
                <a:solidFill>
                  <a:srgbClr val="B7CFE6"/>
                </a:solidFill>
                <a:latin typeface="Segoe UI"/>
              </a:rPr>
              <a:t>What Anthropic's article taught us about doing self-service analytics with an LLM agent. Three failure modes, a four-layer stack, and one trade-off they quantified.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B7CFE6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THE MODEL WE'LL KEEP REFERRING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Anthropic's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106070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  <a:latin typeface="Segoe UI"/>
              </a:rPr>
              <a:t>Self-service analytics accuracy is a context + verification problem — not a code-generation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Three failure modes that cause most wrong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3657600" cy="13258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383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Concept ↔ entity ambiguity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338328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agent can't map "revenue" / "active user" / "FTD" to the one correct table + filter.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23160"/>
            <a:ext cx="3657600" cy="13258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383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Data staleness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38328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schemas + definitions drift. Anthropic measured 95% → 65% in 1 month without active maintenance.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423160"/>
            <a:ext cx="3657600" cy="13258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2514600"/>
            <a:ext cx="3383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Retrieval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834640"/>
            <a:ext cx="338328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right info is in the docs, agent doesn't find it. Grep over thousands of notebooks moved accuracy &lt;1pt. Structure &gt; volume.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B2A4A"/>
                </a:solidFill>
                <a:latin typeface="Segoe UI"/>
              </a:rPr>
              <a:t>Four-layer stack that attacks each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43400"/>
            <a:ext cx="1097280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Data foundations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389120"/>
            <a:ext cx="7680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Canonical datasets, enforced governance, colocation.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Sources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00600"/>
            <a:ext cx="7680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Semantic layer FIRST → lineage → query corpus → business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66360"/>
            <a:ext cx="1097280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212080"/>
            <a:ext cx="7680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Pairwise: knowledge skill (router) + unbook skill (process + analysis patterns).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623560"/>
            <a:ext cx="76809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Offline evals (pinned) + ablations + online provenance + correction harvesting.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 — RESEARCH FINDING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Anthropic's methodology and the trade-offs they observed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Methodology — what they do for every domain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591056"/>
            <a:ext cx="164592" cy="16459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E"/>
                </a:solidFill>
                <a:latin typeface="Segoe UI"/>
              </a:rPr>
              <a:t>Pin every eval to a snapshot date.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 Write it against a stable fact table, or have the grader judge the agent's query shape — not its number — so refreshes don't break evals.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093976"/>
            <a:ext cx="164592" cy="16459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E"/>
                </a:solidFill>
                <a:latin typeface="Segoe UI"/>
              </a:rPr>
              <a:t>Ship a provenance footer on every answer.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 Source tier (semantic layer › curated view › raw exploration), freshness, owner, skill+sha. Silent wrong answers are the highest-risk failure mode and the footer is what makes the silent default safe.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96896"/>
            <a:ext cx="164592" cy="16459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E"/>
                </a:solidFill>
                <a:latin typeface="Segoe UI"/>
              </a:rPr>
              <a:t>Active correction harvesting.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 A scheduled agent reads Slack / feedback channels every few hours for correction language, drafts one-line markdown fixes, opens PRs tagged to the domain owner.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164592" cy="16459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E"/>
                </a:solidFill>
                <a:latin typeface="Segoe UI"/>
              </a:rPr>
              <a:t>90% per-domain accuracy floor before announcement.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 A domain owner cannot announce the agent to their stakeholders until their slice of the eval set clears the threshold.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02736"/>
            <a:ext cx="164592" cy="16459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2E"/>
                </a:solidFill>
                <a:latin typeface="Segoe UI"/>
              </a:rPr>
              <a:t>Skill-touch CI hook.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 90% of their data-model PRs include a skill-file change in the same diff, enforced by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One trade-off they took and quantified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Mandatory adversarial review ("Challenge the Solution") on every answer: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Accuracy 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30368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2E7D32"/>
                </a:solidFill>
                <a:latin typeface="Segoe UI"/>
              </a:rPr>
              <a:t>+6%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493776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59" y="49834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Token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5230368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F9A825"/>
                </a:solidFill>
                <a:latin typeface="Segoe UI"/>
              </a:rPr>
              <a:t>+32%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493776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9" y="49834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Latency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5230368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C62828"/>
                </a:solidFill>
                <a:latin typeface="Segoe UI"/>
              </a:rPr>
              <a:t>+72%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  <a:latin typeface="Segoe UI"/>
              </a:rPr>
              <a:t>We carry this number into Act II — it's the basis for our one deliberate non-adoption.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6FB0D9"/>
                </a:solidFill>
                <a:latin typeface="Segoe UI"/>
              </a:rPr>
              <a:t>ACT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1">
                <a:solidFill>
                  <a:srgbClr val="B7CFE6"/>
                </a:solidFill>
                <a:latin typeface="Segoe UI"/>
              </a:rPr>
              <a:t>Where eToro already stands against the Act I framework. Headline: 5 green, 6 in-motion, 4 roadmap — 1 of which is intentional non-adoption.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B7CFE6"/>
                </a:solidFill>
                <a:latin typeface="Segoe U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 —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What we already built that maps cleanly to Anthropic's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155680" cy="5029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Knowledge skill corpus.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 Hub-and-spoke routing, CI-enforced frontmatter, kebab-case names, required body sections. Identical shape to Anthropic's appendix skeleton.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🚀 Unbook SUBSTANCE — decomposed better than Anthropic's.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 Three-skill triple on Databricks Assistant (data-analysis-playbook + patterns + pattern-library) splits process from routing from detail. Analyst-triggered today; auto-fire promotion is task family 6.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Skills + models in the same repo (DataPlatform).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 CI-deployed. Same colocation Anthropic endorses — enforcement hook is task family 2.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Cross-surface portability.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 Same skill served via MCP gateway → Cursor IDE, Genie Code, standalone agents.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Telemetry foundations live.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 genie_audit_events + monitoring_mcp_logs_mcp_gateway capture skill loads, NL prompts, generated SQL.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🚀 /feedback Databricks app — strategic asset.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 Every Genie answer one-click graded; landed in de_output_genie_code_skill_feedback. Fastest path to a labeled eval set in the industry — Anthropic builds evals by hand; we harvest them in production.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300" b="1" i="0">
                <a:solidFill>
                  <a:srgbClr val="0E6BA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Segoe UI"/>
              </a:rPr>
              <a:t>UC as a documented warehouse + workspace-level assistant defaults.</a:t>
            </a:r>
            <a:r>
              <a:rPr sz="1300" b="0" i="0">
                <a:solidFill>
                  <a:srgbClr val="1A1A2E"/>
                </a:solidFill>
                <a:latin typeface="Segoe UI"/>
              </a:rPr>
              <a:t> ~10k+ column comments deployed across 6 domains; .assistant_workspace_instructions.md anchors cross-Genie-Code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ONE ANTHROPIC RECOMMENDATION, REJECTED WITH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What we're DELIBERATELY NOT adopting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64008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070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Segoe UI"/>
              </a:rPr>
              <a:t>Mandatory adversarial review on every user-facing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Anthropic enforces a Challenge-the-Solution sub-agent call on every analytical answer: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2E7D32"/>
                </a:solidFill>
                <a:latin typeface="Segoe UI"/>
              </a:rPr>
              <a:t>+6%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37744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242316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670048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F9A825"/>
                </a:solidFill>
                <a:latin typeface="Segoe UI"/>
              </a:rPr>
              <a:t>+32%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377440"/>
            <a:ext cx="3566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9" y="242316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  <a:latin typeface="Segoe UI"/>
              </a:rPr>
              <a:t>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670048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C62828"/>
                </a:solidFill>
                <a:latin typeface="Segoe UI"/>
              </a:rPr>
              <a:t>+72%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Our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1115568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The economics don't pencil at current model costs. A nearly-doubled response time on every Genie / MCP query — for a 6-point accuracy lift that's likely smaller for our use case because most of our questions are KPI-style, not open-ended diagnostics — is not a trade users will accept on day-to-day questions.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What we keep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The Challenge-the-Solution pattern stays in data-analysis-pattern-library and is invoked MANUALLY by analysts on high-stakes analyses (board metrics, regulator-facing numbers, model-validation work) — same procedure, applied where the latency cost is justified.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E6BA8"/>
                </a:solidFill>
                <a:latin typeface="Segoe UI"/>
              </a:rPr>
              <a:t>Revisit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Segoe UI"/>
              </a:rPr>
              <a:t>Every 6 months as model cost / latency curves move. If Claude latency drops 3x or eval data shows our domain accuracy is below 80%, this becomes a "yes."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 —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How our stack maps to Anthropic's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32918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743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834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Anthropic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280160"/>
            <a:ext cx="57607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eToro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280160"/>
            <a:ext cx="16459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Roadmap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63624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640" y="1609344"/>
            <a:ext cx="274320" cy="22494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1581912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Canonical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1581912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etoro_kpi views own MIMO / AUM / PFOF; other domains route through canonical prep views + DDR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627632"/>
            <a:ext cx="1645920" cy="188366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1609344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Segoe U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80006"/>
            <a:ext cx="11247120" cy="31638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8640" y="1925726"/>
            <a:ext cx="274320" cy="224942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898294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Skills + models colocation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1898294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Both live in DataPlatform; CI-enforcement hook is task family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944014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1925726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96388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8640" y="2242108"/>
            <a:ext cx="274320" cy="22494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2214676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UC metadata as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2214676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Column-level descriptions deployed across 6 domains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260396"/>
            <a:ext cx="1645920" cy="188366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0" y="2242108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Segoe U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512771"/>
            <a:ext cx="11247120" cy="31638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48640" y="2558491"/>
            <a:ext cx="274320" cy="224942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2531059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Semantic layer (declarative)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2531059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Not declarative yet — skills route to etoro_kpi canonical views, so ambiguity-collapse partially realized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2576779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60" y="2558491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29153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" y="2874873"/>
            <a:ext cx="274320" cy="22494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2847441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Lineage + table ranking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40" y="2847441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Genie Code has UC lineage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2893161"/>
            <a:ext cx="1645920" cy="188366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60" y="2874873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Segoe U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45536"/>
            <a:ext cx="11247120" cy="31638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8640" y="3191256"/>
            <a:ext cx="274320" cy="224942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" y="3163824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Query corpus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7640" y="3163824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Captured (MCP + Genie gateway); distillation manual today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3209544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66960" y="3191256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461918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48640" y="3507638"/>
            <a:ext cx="274320" cy="224942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" y="3480206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Business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40" y="3480206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SME / TVF docs in Synapse Wiki + Confluence; not piped to agents yet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3525926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66960" y="3507638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78300"/>
            <a:ext cx="11247120" cy="31638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48640" y="3824020"/>
            <a:ext cx="274320" cy="22494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3796588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Skills (knowledge router)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77640" y="3796588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Hub-and-spoke; ~13 entry + 45 sub-skills; MCP-served, CI-validated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66960" y="3842308"/>
            <a:ext cx="1645920" cy="188366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966960" y="3824020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Segoe U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094683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48640" y="4140403"/>
            <a:ext cx="274320" cy="224942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0120" y="4112971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Skills (unbook / process)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40" y="4112971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Substance authored (3-skill triple in prod) — analyst-triggered today; auto-fire promotion is task family 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66960" y="4158691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966960" y="4140403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411065"/>
            <a:ext cx="11247120" cy="31638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48640" y="4456785"/>
            <a:ext cx="274320" cy="22494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0120" y="4429353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Offline evals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77640" y="4429353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Not yet — /feedback app already captures graded Q&amp;A in production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4475073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966960" y="4456785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727448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48640" y="4773168"/>
            <a:ext cx="274320" cy="22494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60120" y="4745736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Ablation methodology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7640" y="4745736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Not yet — task family 1 + 5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66960" y="4791456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966960" y="4773168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1+5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043830"/>
            <a:ext cx="11247120" cy="31638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548640" y="5089550"/>
            <a:ext cx="274320" cy="22494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60120" y="5062118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Provenance footer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7640" y="5062118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Not yet on Genie / MCP responses — task family 3 (final-answer-assembly enforced)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66960" y="5107838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966960" y="5089550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360212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48640" y="5405932"/>
            <a:ext cx="274320" cy="22494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60120" y="5378500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Adversarial review on every answer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77640" y="5378500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DELIBERATE non-adoption (see Act II Slide C3) — semi-annual revisit only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66960" y="5424220"/>
            <a:ext cx="1645920" cy="188366"/>
          </a:xfrm>
          <a:prstGeom prst="rect">
            <a:avLst/>
          </a:prstGeom>
          <a:solidFill>
            <a:srgbClr val="FFCDD2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966960" y="5405932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Segoe UI"/>
              </a:rPr>
              <a:t>Reject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5676595"/>
            <a:ext cx="11247120" cy="31638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548640" y="5722315"/>
            <a:ext cx="274320" cy="22494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60120" y="5694883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Passive monitoring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77640" y="5694883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genie_audit_events + MCP gateway logs live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66960" y="5740603"/>
            <a:ext cx="1645920" cy="188366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966960" y="5722315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Segoe U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992977"/>
            <a:ext cx="11247120" cy="31638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48640" y="6038697"/>
            <a:ext cx="274320" cy="224942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60120" y="6011265"/>
            <a:ext cx="292608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Active correction harvesting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77640" y="6011265"/>
            <a:ext cx="5852160" cy="27980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Substrate ready (/feedback + MCP user-message logs); scheduled classifier + PR-draft agent is task family 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966960" y="6056985"/>
            <a:ext cx="1645920" cy="188366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966960" y="6038697"/>
            <a:ext cx="1645920" cy="22494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E6BA8"/>
                </a:solidFill>
                <a:latin typeface="Segoe UI"/>
              </a:rPr>
              <a:t>Task family 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  <a:latin typeface="Segoe UI"/>
              </a:rPr>
              <a:t>Score: 5 green · 6 in-motion · 4 roadmap.   Every yellow and red is a planned task family in Act III. The one Reject is the deliberate non-adoption.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6FB0D9"/>
                </a:solidFill>
                <a:latin typeface="Segoe UI"/>
              </a:rPr>
              <a:t>ACT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1">
                <a:solidFill>
                  <a:srgbClr val="B7CFE6"/>
                </a:solidFill>
                <a:latin typeface="Segoe UI"/>
              </a:rPr>
              <a:t>The roadmap. Six task families. Every yellow on Act II's scorecard is a planned task family here. Roadmap language — no gaps, no failures, just work breakdown.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B7CFE6"/>
                </a:solidFill>
                <a:latin typeface="Segoe U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The machine — from static corpus to living business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Segoe UI"/>
              </a:rPr>
              <a:t>The point of H2 is not to ship more skills. It's to stop authoring them as one-off artifacts and start running them as the output of an autonomous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INPUTS — sensors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611880" cy="31546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37744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13432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New Confluence docs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78892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24912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New SharePoint docs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0040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36392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UC schema changes (information_schema + UC lineage)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61188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547872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DataPlatform PRs touching canonical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959352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MCP query telemetry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43484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370832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Genie audit events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46320"/>
            <a:ext cx="91440" cy="9144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782312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/feedback 1–2★ grades + correction comments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60520" y="3291840"/>
            <a:ext cx="274320" cy="502920"/>
          </a:xfrm>
          <a:prstGeom prst="rightArrow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26280" y="1828800"/>
            <a:ext cx="3611880" cy="3657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1828800"/>
            <a:ext cx="36118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ORCHESTRATION — judges + routers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194560"/>
            <a:ext cx="3611880" cy="3154680"/>
          </a:xfrm>
          <a:prstGeom prst="rect">
            <a:avLst/>
          </a:prstGeom>
          <a:solidFill>
            <a:srgbClr val="F0F4FB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2331720"/>
            <a:ext cx="3337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Scheduled LLM classifiers + routers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560320"/>
            <a:ext cx="3337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Detect skill drift, correction language, schema deltas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044952"/>
            <a:ext cx="3337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Eval gate (90% per domain)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273552"/>
            <a:ext cx="3337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Per-domain accuracy SLA — refuses regressions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758184"/>
            <a:ext cx="3337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Skill-touch CI hook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986784"/>
            <a:ext cx="3337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Model PR must touch matching skill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471416"/>
            <a:ext cx="3337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B2A4A"/>
                </a:solidFill>
                <a:latin typeface="Segoe UI"/>
              </a:rPr>
              <a:t>Frequency-weighted Q-cluster prioritizer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700016"/>
            <a:ext cx="3337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  <a:latin typeface="Segoe UI"/>
              </a:rPr>
              <a:t>Focuses effort on the long-tail questions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229600" y="3291840"/>
            <a:ext cx="274320" cy="502920"/>
          </a:xfrm>
          <a:prstGeom prst="rightArrow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595360" y="1828800"/>
            <a:ext cx="3611880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0" y="1828800"/>
            <a:ext cx="36118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OUTPUTS — actions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2194560"/>
            <a:ext cx="3611880" cy="31546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778240" y="246888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0" y="2404872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Draft skill PRs (auto-tagged to domain owner)</a:t>
            </a:r>
          </a:p>
        </p:txBody>
      </p:sp>
      <p:sp>
        <p:nvSpPr>
          <p:cNvPr id="44" name="Oval 43"/>
          <p:cNvSpPr/>
          <p:nvPr/>
        </p:nvSpPr>
        <p:spPr>
          <a:xfrm>
            <a:off x="8778240" y="297180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61120" y="2907792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Eval-set additions (from /feedback)</a:t>
            </a:r>
          </a:p>
        </p:txBody>
      </p:sp>
      <p:sp>
        <p:nvSpPr>
          <p:cNvPr id="46" name="Oval 45"/>
          <p:cNvSpPr/>
          <p:nvPr/>
        </p:nvSpPr>
        <p:spPr>
          <a:xfrm>
            <a:off x="8778240" y="347472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61120" y="3410712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Schema-drift alerts (to domain owner)</a:t>
            </a:r>
          </a:p>
        </p:txBody>
      </p:sp>
      <p:sp>
        <p:nvSpPr>
          <p:cNvPr id="48" name="Oval 47"/>
          <p:cNvSpPr/>
          <p:nvPr/>
        </p:nvSpPr>
        <p:spPr>
          <a:xfrm>
            <a:off x="8778240" y="397764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61120" y="3913632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Stale-skill flags (source doc deprecated / table retired)</a:t>
            </a:r>
          </a:p>
        </p:txBody>
      </p:sp>
      <p:sp>
        <p:nvSpPr>
          <p:cNvPr id="50" name="Oval 49"/>
          <p:cNvSpPr/>
          <p:nvPr/>
        </p:nvSpPr>
        <p:spPr>
          <a:xfrm>
            <a:off x="8778240" y="448056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0" y="4416552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Accuracy dashboard per domain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5596128"/>
            <a:ext cx="10881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6FB0D9"/>
                </a:solidFill>
                <a:latin typeface="Segoe UI"/>
              </a:rPr>
              <a:t>Three rules of the machine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879592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1. Every input becomes a trigger.</a:t>
            </a:r>
            <a:r>
              <a:rPr sz="1000" b="0" i="0">
                <a:solidFill>
                  <a:srgbClr val="B7CFE6"/>
                </a:solidFill>
                <a:latin typeface="Segoe UI"/>
              </a:rPr>
              <a:t> A new Confluence page is a signal to verify the routing.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5879592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2. Every trigger becomes a PR or eval.</a:t>
            </a:r>
            <a:r>
              <a:rPr sz="1000" b="0" i="0">
                <a:solidFill>
                  <a:srgbClr val="B7CFE6"/>
                </a:solidFill>
                <a:latin typeface="Segoe UI"/>
              </a:rPr>
              <a:t> Humans review drafts; the machine does the boring work.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59" y="5879592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3. The eval gate is the brain.</a:t>
            </a:r>
            <a:r>
              <a:rPr sz="1000" b="0" i="0">
                <a:solidFill>
                  <a:srgbClr val="B7CFE6"/>
                </a:solidFill>
                <a:latin typeface="Segoe UI"/>
              </a:rPr>
              <a:t> Nothing ships unless the domain's slice clears 90%.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III —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Roadmap overview — six task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1">
                <a:solidFill>
                  <a:srgbClr val="556677"/>
                </a:solidFill>
                <a:latin typeface="Segoe UI"/>
              </a:rPr>
              <a:t>Every yellow on the Act II scorecard is a planned task family here. Detail follows for the three with the most sub-task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737360"/>
            <a:ext cx="35661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737360"/>
            <a:ext cx="259689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Task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737360"/>
            <a:ext cx="492861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What it produces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1737360"/>
            <a:ext cx="277977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First sub-task we'd 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1124712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8640" y="2231136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231136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12264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Truth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265176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eval substrate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112264"/>
            <a:ext cx="49834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Pinned canonical Q&amp;A set + per-domain accuracy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112264"/>
            <a:ext cx="283464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Synthesize the first eval slice from /feedback 4★+5★ submissions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70632"/>
            <a:ext cx="11247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8640" y="2944368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944368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825496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Model-Change Watcher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063240"/>
            <a:ext cx="265176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skill-touch CI hook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2825496"/>
            <a:ext cx="49834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Blocks canonical-view PRs that don't touch a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825496"/>
            <a:ext cx="283464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Single PR adding the CI rule on DataPlatform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83864"/>
            <a:ext cx="1124712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538728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Output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776472"/>
            <a:ext cx="265176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provenance footer enforced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3538728"/>
            <a:ext cx="49834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Every MCP and Genie Code answer carries source tier + freshness + owner + skill@sha + 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538728"/>
            <a:ext cx="283464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MCP gateway middleware injection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97096"/>
            <a:ext cx="11247120" cy="868680"/>
          </a:xfrm>
          <a:prstGeom prst="rect">
            <a:avLst/>
          </a:prstGeom>
          <a:solidFill>
            <a:srgbClr val="FFECE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" y="444855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448556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25196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Segoe UI"/>
              </a:rPr>
              <a:t>Multi-Source Watcher Fleet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489704"/>
            <a:ext cx="2651760" cy="557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the heart of the machine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4251960"/>
            <a:ext cx="4983480" cy="7589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Confluence / SharePoint / UC schema / UC lineage / MCP-correction watchers → draft skill PRs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4251960"/>
            <a:ext cx="2834640" cy="7589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MCP correction harvester (logs are live; lowest friction)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65776"/>
            <a:ext cx="1124712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48640" y="5239512"/>
            <a:ext cx="365760" cy="365760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239512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120640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Ablation-grade telemetry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358384"/>
            <a:ext cx="265176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per-skill / per-model observability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5120640"/>
            <a:ext cx="49834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Makes "did skill X help?" a SQL query, not an A/B study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5120640"/>
            <a:ext cx="283464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Enrich monitoring_mcp_logs_mcp_gateway schema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79008"/>
            <a:ext cx="11247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48640" y="5952744"/>
            <a:ext cx="365760" cy="36576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5952744"/>
            <a:ext cx="365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833872"/>
            <a:ext cx="26517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  <a:latin typeface="Segoe UI"/>
              </a:rPr>
              <a:t>Open design decisions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6071616"/>
            <a:ext cx="265176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parked, not stuck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0" y="5833872"/>
            <a:ext cx="49834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Resolved when the data justifies the choice (unbook auto-fire / 10-KPI metric-view pilot / adversarial-review revisit)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5833872"/>
            <a:ext cx="283464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Promote final-answer-assembly to default output on domain-* hub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III —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Task family 1: Truth Sensor (the eval substrate)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155680" cy="50292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Segoe UI"/>
              </a:rPr>
              <a:t>"Data teams set up elaborate analytic environments without any process to understand the accuracy of their analytics agents."  — 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What it produces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Pinned canonical Q&amp;A eval set, run on every skill PR, gated at 90% per domain before an agent is announced to that domain.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E6BA8"/>
                </a:solidFill>
                <a:latin typeface="Segoe UI"/>
              </a:rPr>
              <a:t>Why this task family ships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The /feedback app is already harvesting graded Q&amp;A in production. The labeled data arrives every day. Anthropic's hardest problem becomes our easiest.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Sub-tasks (in build order)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4048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7705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Harvest 4★ + 5★ submissions → graded-correct canonical Q&amp;A pairs.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 Pin to created_at snapshot. Grader checks SQL shape, not number.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20624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4281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Harvest 1★ + 2★ submissions with free-text corrections → active-correction stream.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 Each is a candidate skill-file edit (feeds task family 4).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0857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LLM-cluster NL questions per domain — frequency-weighted Pareto.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 Top 30 question clusters per domain cover the long tail.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93776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7433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Land eval runs as telemetry in a Delta table.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 eval_id, skill_version_sha, model_id, run_ts, passed_bool, per_assertion_json, tokens, latency.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30352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4009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Wire into CI on every skill PR.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 Run only the eval slice affected by the diff.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669280"/>
            <a:ext cx="329184" cy="329184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669280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0585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Gate at 90% per domain before announcement.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  Anthropic's threshold. Non-negotiable.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III —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Task family 3: Output Contract (provenance footer)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155680" cy="1417320"/>
          </a:xfrm>
          <a:prstGeom prst="rect">
            <a:avLst/>
          </a:prstGeom>
          <a:solidFill>
            <a:srgbClr val="14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106984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B7CFE6"/>
                </a:solidFill>
                <a:latin typeface="Segoe UI"/>
              </a:rPr>
              <a:t>Every user-facing answer carries this footer: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69848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Source: semantic layer / curated view / raw exploration
Freshness: data through YYYY-MM-DD
Owner: &lt;team&gt;     |     Skill: &lt;skill_id&gt;@&lt;commit_sha&gt;
Confidence: H / M / 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E6BA8"/>
                </a:solidFill>
                <a:latin typeface="Segoe UI"/>
              </a:rPr>
              <a:t>Why this task family ships in parallel with the eval substrate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1155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Silent wrong answers are the highest-risk failure mode. The footer is the online safety net while the eval gate is being built.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Sub-tasks, by surface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1247120" cy="32918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3200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977640"/>
            <a:ext cx="58521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977640"/>
            <a:ext cx="16459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61104"/>
            <a:ext cx="11247120" cy="50292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MCP gateway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297680"/>
            <a:ext cx="585216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Append footer in the gateway middleware. We own the layer end-to-end.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4370832"/>
            <a:ext cx="1645920" cy="283464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4352544"/>
            <a:ext cx="16459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Segoe UI"/>
              </a:rPr>
              <a:t>One PR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64024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329184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Genie Code (Databricks Assistant in notebooks)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800600"/>
            <a:ext cx="585216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Two paths: (a) add the mandate to .assistant_workspace_instructions.md at workspace root — applies globally; or (b) push a dedicated final-answer-assembly skill into /.assistant/skills/.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4873752"/>
            <a:ext cx="1645920" cy="283464"/>
          </a:xfrm>
          <a:prstGeom prst="rect">
            <a:avLst/>
          </a:prstGeom>
          <a:solidFill>
            <a:srgbClr val="FFF3C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4855464"/>
            <a:ext cx="16459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Segoe UI"/>
              </a:rPr>
              <a:t>Choose (a)/(b)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66944"/>
            <a:ext cx="11247120" cy="50292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329184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1">
                <a:solidFill>
                  <a:srgbClr val="556677"/>
                </a:solidFill>
                <a:latin typeface="Segoe UI"/>
              </a:rPr>
              <a:t>Cursor 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303520"/>
            <a:ext cx="585216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Covered — only our custom MCP sees skill-load context. No separate action.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5376672"/>
            <a:ext cx="1645920" cy="283464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0" y="5358384"/>
            <a:ext cx="16459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556677"/>
                </a:solidFill>
                <a:latin typeface="Segoe UI"/>
              </a:rPr>
              <a:t>Covered by MCP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9864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806440"/>
            <a:ext cx="329184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Segoe UI"/>
              </a:rPr>
              <a:t>Classic Genie 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806440"/>
            <a:ext cx="5852160" cy="4297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Out of scope — no skill / instruction injection point yet. Databricks-controlled. Wait for product.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5879592"/>
            <a:ext cx="1645920" cy="283464"/>
          </a:xfrm>
          <a:prstGeom prst="rect">
            <a:avLst/>
          </a:prstGeom>
          <a:solidFill>
            <a:srgbClr val="FFF3C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5861304"/>
            <a:ext cx="16459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Segoe UI"/>
              </a:rPr>
              <a:t>Wait for Databricks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080760"/>
            <a:ext cx="11155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  <a:latin typeface="Segoe UI"/>
              </a:rPr>
              <a:t>Adjacent open decision (task family 6): promote final-answer-assembly to the default output mode for domain-* hub queries — the cheapest minimal-unbook auto-fire candidate. Start at (a), let the eval gate justify (b) metric-definition-check or (c) question-framing.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III —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Task family 4 (the heart of the machine): Multi-Source Watcher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155680" cy="502920"/>
          </a:xfrm>
          <a:prstGeom prst="rect">
            <a:avLst/>
          </a:prstGeom>
          <a:solidFill>
            <a:srgbClr val="FFECEF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1">
                <a:solidFill>
                  <a:srgbClr val="0B2A4A"/>
                </a:solidFill>
                <a:latin typeface="Segoe UI"/>
              </a:rPr>
              <a:t>The difference between a corpus authored once and forgotten, and a corpus that continuously re-validates itself against every knowledge source in the company.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Sub-tasks — one strand per knowledge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1247120" cy="32918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3774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Watcher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0280"/>
            <a:ext cx="43891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40280"/>
            <a:ext cx="39319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23744"/>
            <a:ext cx="11247120" cy="530352"/>
          </a:xfrm>
          <a:prstGeom prst="rect">
            <a:avLst/>
          </a:prstGeom>
          <a:solidFill>
            <a:srgbClr val="C8E6C9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569464"/>
            <a:ext cx="2468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MCP correction harvester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69464"/>
            <a:ext cx="44805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Scheduled scan of monitoring_mcp_logs_mcp_gateway user messages for correction language ("that's wrong", "you forgot", "the right table is") + /feedback 1★/2★ 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69464"/>
            <a:ext cx="40233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LLM classifier → domain-tagged draft PR with proposed skill-file edit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54096"/>
            <a:ext cx="11247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099816"/>
            <a:ext cx="2468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Confluence new-page watcher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099816"/>
            <a:ext cx="44805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Confluence webhook / scheduled diff on tagged 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99816"/>
            <a:ext cx="40233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LLM classifier: "does this change the routing for domain-X?" → draft PR if 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84448"/>
            <a:ext cx="11247120" cy="53035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630168"/>
            <a:ext cx="2468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SharePoint new-doc watcher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30168"/>
            <a:ext cx="44805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Scheduled scan of mapped SharePoint folders (the post-Fivetran source of truth for ops-authored data)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630168"/>
            <a:ext cx="40233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Same pattern as Confluence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11247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2468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UC schema-delta watcher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160520"/>
            <a:ext cx="44805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Daily diff on system.information_schema.tables + .columns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160520"/>
            <a:ext cx="40233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Renamed / dropped / added column → flag the skill(s) whose required_tables include that 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45152"/>
            <a:ext cx="11247120" cy="53035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690872"/>
            <a:ext cx="246888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UC lineage-delta watcher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690872"/>
            <a:ext cx="44805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Daily diff on system.access.column_lineage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690872"/>
            <a:ext cx="402336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Upstream change → flag downstream skills' required_tables for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74920"/>
            <a:ext cx="5440680" cy="141732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148072"/>
            <a:ext cx="5074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E6BA8"/>
                </a:solidFill>
                <a:latin typeface="Segoe UI"/>
              </a:rPr>
              <a:t>Shared infrastructure (one build, five reuses)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22392"/>
            <a:ext cx="507492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• LLM classifier with per-watcher prompts
• PR-draft framework (writes edit, opens PR, applies label)
• Domain-owner routing table (signal → owner)
• Suppression rules to avoid PR storms on bulk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074920"/>
            <a:ext cx="5440680" cy="1417320"/>
          </a:xfrm>
          <a:prstGeom prst="rect">
            <a:avLst/>
          </a:prstGeom>
          <a:solidFill>
            <a:srgbClr val="ECEFF4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5148072"/>
            <a:ext cx="5074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E6BA8"/>
                </a:solidFill>
                <a:latin typeface="Segoe UI"/>
              </a:rPr>
              <a:t>Build order — easiest signal first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422392"/>
            <a:ext cx="507492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1. MCP correction harvester — logs live, lowest friction, immediate ROI
2. UC schema-delta watcher — information_schema diff is a 3-line query
3. Confluence / SharePoint watchers — API wiring, same template
4. UC lineage-delta watcher — most complex; ship last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III —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Task families 2, 5, 6: smaller scopes + open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532120" cy="22402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1663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E6BA8"/>
                </a:solidFill>
                <a:latin typeface="Segoe UI"/>
              </a:rPr>
              <a:t>TASK FAMILY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166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Segoe UI"/>
              </a:rPr>
              <a:t>Model-Change Watcher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1663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One PR. Detects PRs that modify canonical tables (etoro_kpi.*, DDR family, bi_db_* gold tables) and requires the diff to also touch the matching skill file. Auto-tags the domain owner if it doesn't.
Anthropic's number: 90% of model PRs include a skill diff. Stops silent skill rot the day it ships.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532120" cy="2240280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1663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E6BA8"/>
                </a:solidFill>
                <a:latin typeface="Segoe UI"/>
              </a:rPr>
              <a:t>TASK FAMILY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166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Segoe UI"/>
              </a:rPr>
              <a:t>Ablation-grade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1663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Enrich monitoring_mcp_logs_mcp_gateway + Genie sibling table with:
  • skill_version_sha · model_id · token_in/out · latency_ms · correction_flag
  • metric_flow_id tying eval run, production answer, and correction together.
Makes "is the new skill version better?" a SQL query, not an A/B study.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Task family 6 — Open design decisions in the roadmap (parked, not stuck)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11247120" cy="32918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34747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069080"/>
            <a:ext cx="48463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069080"/>
            <a:ext cx="23774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Resolution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52544"/>
            <a:ext cx="1124712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407408"/>
            <a:ext cx="35661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Unbook auto-fire — promote which minimal subset?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407408"/>
            <a:ext cx="49377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Start with final-answer-assembly (candidate (a)). Promote to metric-definition-check or question-framing only if the eval gate data justifies.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407408"/>
            <a:ext cx="24688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Resolved by Truth Sensor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65776"/>
            <a:ext cx="11247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35661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10-KPI UC-metric-view pilot — declarative semantic layer on top of etoro_kpi?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20640"/>
            <a:ext cx="49377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Pilot 10 KPIs (FTD, MIMO net, AUM, NOP, daily volumes, registration funnel, RAF, options PFOF, fee revenue, refund chain).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120640"/>
            <a:ext cx="24688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H2 planning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79008"/>
            <a:ext cx="1124712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B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833872"/>
            <a:ext cx="35661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Segoe UI"/>
              </a:rPr>
              <a:t>Adversarial review on every answer — does the trade-off math change?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833872"/>
            <a:ext cx="49377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Hold the deliberate non-adoption. Revisit semi-annually.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833872"/>
            <a:ext cx="246888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1">
                <a:solidFill>
                  <a:srgbClr val="0E6BA8"/>
                </a:solidFill>
                <a:latin typeface="Segoe UI"/>
              </a:rPr>
              <a:t>Model cost / latency curves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ACT III —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2600" b="1" i="0" dirty="0" smtClean="0">
                <a:solidFill>
                  <a:srgbClr val="0B2A4A"/>
                </a:solidFill>
                <a:latin typeface="Segoe UI"/>
              </a:rPr>
              <a:t>Leadership Ask</a:t>
            </a:r>
            <a:endParaRPr sz="2600" b="1" i="0" dirty="0">
              <a:solidFill>
                <a:srgbClr val="0B2A4A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155680" cy="2377440"/>
          </a:xfrm>
          <a:prstGeom prst="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Segoe UI"/>
              </a:rPr>
              <a:t>PRIMARY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106984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Segoe UI"/>
              </a:rPr>
              <a:t>Assign domain owners and commit them to the eval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Segoe UI"/>
              </a:rPr>
              <a:t>The machine has one human-in-the-loop role that cannot be automated: the domain owner who adjudicates ground truth for their slice. Per Anthropic — non-negotiable.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1069848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2E"/>
                </a:solidFill>
                <a:latin typeface="Segoe UI"/>
              </a:rPr>
              <a:t>• Internal teams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(Data Analytics, Product Analytics — inside our org): </a:t>
            </a:r>
            <a:r>
              <a:rPr sz="1100" b="1" i="0">
                <a:solidFill>
                  <a:srgbClr val="C62828"/>
                </a:solidFill>
                <a:latin typeface="Segoe UI"/>
              </a:rPr>
              <a:t>can be mandated.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Domain ownership assigned; team signs off on the eval slice.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1" i="0">
                <a:solidFill>
                  <a:srgbClr val="1A1A2E"/>
                </a:solidFill>
                <a:latin typeface="Segoe UI"/>
              </a:rPr>
              <a:t>• Cross-functional business domains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(Marketing, Trading Ops, Payments, US Ops, Compliance…): </a:t>
            </a:r>
            <a:r>
              <a:rPr sz="1100" b="1" i="0">
                <a:solidFill>
                  <a:srgbClr val="C62828"/>
                </a:solidFill>
                <a:latin typeface="Segoe UI"/>
              </a:rPr>
              <a:t>needs leadership-level comms.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Message: "the agent will give your users wrong answers unless your team owns the eval slice. We build the substrate; you adjudicate ground truth." Without this we stall at ~75%.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Segoe UI"/>
              </a:rPr>
              <a:t>And three smaller 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0E6BA8"/>
                </a:solidFill>
                <a:latin typeface="Segoe U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Greenlight the machine's first watchers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53128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Skill-touch CI hook on DataPlatform (one PR, no product impact) + MCP correction harvester (scheduled job on logs that already exist — ready to start now).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73752"/>
            <a:ext cx="457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0E6BA8"/>
                </a:solidFill>
                <a:latin typeface="Segoe U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73752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Commit a baseline accuracy number for 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Suggested floor: 75% on top 4 domains by Q3, 90% by Q4. The machine without a target is just plumbing.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86984"/>
            <a:ext cx="457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0E6BA8"/>
                </a:solidFill>
                <a:latin typeface="Segoe UI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86984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B2A4A"/>
                </a:solidFill>
                <a:latin typeface="Segoe UI"/>
              </a:rPr>
              <a:t>Decision on the 10-KPI UC-metric-view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79592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Yes / no on a thin semantic-layer pilot in H2. We have the canonical views; this is the declarative wrapper.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E6BA8"/>
                </a:solidFill>
                <a:latin typeface="Segoe U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B2A4A"/>
                </a:solidFill>
                <a:latin typeface="Segoe UI"/>
              </a:rPr>
              <a:t>Appendix — sources &amp; artefacts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56677"/>
                </a:solidFill>
                <a:latin typeface="Segoe UI"/>
              </a:rPr>
              <a:t>18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DB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Article (source of comparison)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How Anthropic enables self-service data analytics with Claude — claude.com/blog, 2026-06-03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v1 deck (pre-restructure)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8308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proposals/exec-deck-anthropic-self-service-analytics-2026-06-04.md + 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Internal briefs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8600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proposals/skill-curation-from-nl-and-queries-2026-05-31.md · proposals/skills-mcp-protocol-parity-implementation-2026-06-03.md · dab/monitoring-genie-logs/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Skill corpus (knowledge router)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78892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databricks/data-skills/skills/domain-*/ on DataPlatform (CI-deployed)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Skill corpus (unbook triple)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9184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/.assistant/skills/data-analysis-playbook · /.assistant/skills/data-analysis-patterns · /.assistant/skills/data-analysis-pattern-library on Databricks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Workspace assistant defaults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9476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/.assistant_workspace_instructions.md at Databricks workspace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Telemetry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29768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main.config.monitoring_mcp_logs_mcp_gateway · main.de_output_stg.de_output_monitoring_genie_logs_genie_gateway · main.monitoring.genie_audit_events · main.de_output.de_output_genie_code_skill_feedback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Segoe UI"/>
              </a:rPr>
              <a:t>Feedback skill (DA-80 PR)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800600"/>
            <a:ext cx="777240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knowledge/skills/feedback-command/SKILL.md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3239</Words>
  <Application>Microsoft Office PowerPoint</Application>
  <PresentationFormat>Widescreen</PresentationFormat>
  <Paragraphs>344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Guy Manova</cp:lastModifiedBy>
  <cp:revision>2</cp:revision>
  <dcterms:created xsi:type="dcterms:W3CDTF">2013-01-27T09:14:16Z</dcterms:created>
  <dcterms:modified xsi:type="dcterms:W3CDTF">2026-06-08T11:48:03Z</dcterms:modified>
  <cp:category/>
</cp:coreProperties>
</file>