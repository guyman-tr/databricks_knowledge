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06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6FB0D9"/>
                </a:solidFill>
                <a:latin typeface="Segoe UI"/>
              </a:rPr>
              <a:t>EXECUTIVE BRIEFING · 2026-06-04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3272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From static corpus to living business brain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33272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B7CFE6"/>
                </a:solidFill>
                <a:latin typeface="Segoe UI"/>
              </a:rPr>
              <a:t>Self-service analytics at eToro — where we stand vs Anthropic, and how we build the machine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B7CFE6"/>
                </a:solidFill>
                <a:latin typeface="Segoe UI"/>
              </a:rPr>
              <a:t>Source: How Anthropic enables self-service data analytics with Claude (claude.com/blog, 2026-06-03)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B7CFE6"/>
                </a:solidFill>
                <a:latin typeface="Segoe UI"/>
              </a:rPr>
              <a:t>Audience: Data leadership · Eng leadership · Analyst-team leads   |   Read time: ~10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E6BA8"/>
                </a:solidFill>
                <a:latin typeface="Segoe UI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Segoe UI"/>
              </a:rP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6677"/>
                </a:solidFill>
                <a:latin typeface="Segoe UI"/>
              </a:rPr>
              <a:t>2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47120" cy="9144"/>
          </a:xfrm>
          <a:prstGeom prst="rect">
            <a:avLst/>
          </a:prstGeom>
          <a:solidFill>
            <a:srgbClr val="DB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00" b="1" i="0">
                <a:solidFill>
                  <a:srgbClr val="0E6BA8"/>
                </a:solidFill>
                <a:latin typeface="Segoe UI"/>
              </a:rPr>
              <a:t>•  </a:t>
            </a:r>
            <a:r>
              <a:rPr sz="1700" b="1" i="0">
                <a:solidFill>
                  <a:srgbClr val="1A1A2E"/>
                </a:solidFill>
                <a:latin typeface="Segoe UI"/>
              </a:rPr>
              <a:t>Anthropic's published number: </a:t>
            </a:r>
            <a:r>
              <a:rPr sz="1700" b="0" i="0">
                <a:solidFill>
                  <a:srgbClr val="1A1A2E"/>
                </a:solidFill>
                <a:latin typeface="Segoe UI"/>
              </a:rPr>
              <a:t>95% of business analytics questions answered automatically, ~95% accurate.</a:t>
            </a:r>
          </a:p>
          <a:p>
            <a:pPr algn="l">
              <a:lnSpc>
                <a:spcPct val="115000"/>
              </a:lnSpc>
              <a:spcBef>
                <a:spcPts val="1600"/>
              </a:spcBef>
            </a:pPr>
            <a:r>
              <a:rPr sz="1700" b="1" i="0">
                <a:solidFill>
                  <a:srgbClr val="0E6BA8"/>
                </a:solidFill>
                <a:latin typeface="Segoe UI"/>
              </a:rPr>
              <a:t>•  </a:t>
            </a:r>
            <a:r>
              <a:rPr sz="1700" b="1" i="0">
                <a:solidFill>
                  <a:srgbClr val="1A1A2E"/>
                </a:solidFill>
                <a:latin typeface="Segoe UI"/>
              </a:rPr>
              <a:t>Same primitives we have: </a:t>
            </a:r>
            <a:r>
              <a:rPr sz="1700" b="0" i="0">
                <a:solidFill>
                  <a:srgbClr val="1A1A2E"/>
                </a:solidFill>
                <a:latin typeface="Segoe UI"/>
              </a:rPr>
              <a:t>Claude, MCP, skills, dbt-style modeling, an emerging metric layer.</a:t>
            </a:r>
          </a:p>
          <a:p>
            <a:pPr algn="l">
              <a:lnSpc>
                <a:spcPct val="115000"/>
              </a:lnSpc>
              <a:spcBef>
                <a:spcPts val="1600"/>
              </a:spcBef>
            </a:pPr>
            <a:r>
              <a:rPr sz="1700" b="1" i="0">
                <a:solidFill>
                  <a:srgbClr val="0E6BA8"/>
                </a:solidFill>
                <a:latin typeface="Segoe UI"/>
              </a:rPr>
              <a:t>•  </a:t>
            </a:r>
            <a:r>
              <a:rPr sz="1700" b="1" i="0">
                <a:solidFill>
                  <a:srgbClr val="1A1A2E"/>
                </a:solidFill>
                <a:latin typeface="Segoe UI"/>
              </a:rPr>
              <a:t>We've built ~80% of the stack already — </a:t>
            </a:r>
            <a:r>
              <a:rPr sz="1700" b="0" i="0">
                <a:solidFill>
                  <a:srgbClr val="1A1A2E"/>
                </a:solidFill>
                <a:latin typeface="Segoe UI"/>
              </a:rPr>
              <a:t>including two assets most teams would have to build from zero.</a:t>
            </a:r>
          </a:p>
          <a:p>
            <a:pPr algn="l">
              <a:lnSpc>
                <a:spcPct val="115000"/>
              </a:lnSpc>
              <a:spcBef>
                <a:spcPts val="1600"/>
              </a:spcBef>
            </a:pPr>
            <a:r>
              <a:rPr sz="1700" b="1" i="0">
                <a:solidFill>
                  <a:srgbClr val="0E6BA8"/>
                </a:solidFill>
                <a:latin typeface="Segoe UI"/>
              </a:rPr>
              <a:t>•  </a:t>
            </a:r>
            <a:r>
              <a:rPr sz="1700" b="1" i="0">
                <a:solidFill>
                  <a:srgbClr val="1A1A2E"/>
                </a:solidFill>
                <a:latin typeface="Segoe UI"/>
              </a:rPr>
              <a:t>The strategic shift for H2: </a:t>
            </a:r>
            <a:r>
              <a:rPr sz="1700" b="0" i="0">
                <a:solidFill>
                  <a:srgbClr val="1A1A2E"/>
                </a:solidFill>
                <a:latin typeface="Segoe UI"/>
              </a:rPr>
              <a:t>stop treating the skill corpus as a static artifact. Start running it as a living machine — one that watches every knowledge source in the company, judges itself with telemetry, and updates itself.</a:t>
            </a:r>
          </a:p>
          <a:p>
            <a:pPr algn="l">
              <a:lnSpc>
                <a:spcPct val="115000"/>
              </a:lnSpc>
              <a:spcBef>
                <a:spcPts val="1600"/>
              </a:spcBef>
            </a:pPr>
            <a:r>
              <a:rPr sz="1700" b="1" i="0">
                <a:solidFill>
                  <a:srgbClr val="0E6BA8"/>
                </a:solidFill>
                <a:latin typeface="Segoe UI"/>
              </a:rPr>
              <a:t>•  </a:t>
            </a:r>
            <a:r>
              <a:rPr sz="1700" b="1" i="0">
                <a:solidFill>
                  <a:srgbClr val="1A1A2E"/>
                </a:solidFill>
                <a:latin typeface="Segoe UI"/>
              </a:rPr>
              <a:t>The ask: </a:t>
            </a:r>
            <a:r>
              <a:rPr sz="1700" b="0" i="0">
                <a:solidFill>
                  <a:srgbClr val="1A1A2E"/>
                </a:solidFill>
                <a:latin typeface="Segoe UI"/>
              </a:rPr>
              <a:t>align on the machine we're building + commit to a measurable accuracy floor.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E6BA8"/>
                </a:solidFill>
                <a:latin typeface="Segoe UI"/>
              </a:rPr>
              <a:t>THE MODEL WE'LL KEEP REFERRING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Segoe UI"/>
              </a:rPr>
              <a:t>Anthropic's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6677"/>
                </a:solidFill>
                <a:latin typeface="Segoe UI"/>
              </a:rPr>
              <a:t>3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47120" cy="9144"/>
          </a:xfrm>
          <a:prstGeom prst="rect">
            <a:avLst/>
          </a:prstGeom>
          <a:solidFill>
            <a:srgbClr val="DB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10972800" cy="64008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80160"/>
            <a:ext cx="106070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A1A2E"/>
                </a:solidFill>
                <a:latin typeface="Segoe UI"/>
              </a:rPr>
              <a:t>Self-service analytics accuracy is a context + verification problem — not a code-generation problem.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Segoe UI"/>
              </a:rPr>
              <a:t>Three failure modes that cause most wrong answers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23160"/>
            <a:ext cx="3657600" cy="1325880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33832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E6BA8"/>
                </a:solidFill>
                <a:latin typeface="Segoe UI"/>
              </a:rPr>
              <a:t>Concept ↔ entity ambiguity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34640"/>
            <a:ext cx="338328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agent can't map "revenue" / "active user" / "FTD" to the one correct table + filter.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423160"/>
            <a:ext cx="3657600" cy="1325880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514600"/>
            <a:ext cx="33832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E6BA8"/>
                </a:solidFill>
                <a:latin typeface="Segoe UI"/>
              </a:rPr>
              <a:t>Data staleness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834640"/>
            <a:ext cx="338328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schemas + definitions drift. Anthropic measured 95% → 65% in 1 month without active maintenance.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59" y="2423160"/>
            <a:ext cx="3657600" cy="1325880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2514600"/>
            <a:ext cx="33832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E6BA8"/>
                </a:solidFill>
                <a:latin typeface="Segoe UI"/>
              </a:rPr>
              <a:t>Retrieval failure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834640"/>
            <a:ext cx="338328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right info is in the docs, agent doesn't find it. Grep over thousands of notebooks moved accuracy &lt;1pt. Structure &gt; volume.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977639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Segoe UI"/>
              </a:rPr>
              <a:t>Four-layer stack that attacks each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343400"/>
            <a:ext cx="10972800" cy="411480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89120"/>
            <a:ext cx="30175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2A4A"/>
                </a:solidFill>
                <a:latin typeface="Segoe UI"/>
              </a:rPr>
              <a:t>Data foundations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389120"/>
            <a:ext cx="76809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Segoe UI"/>
              </a:rPr>
              <a:t>Canonical datasets, enforced governance, colocation.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754880"/>
            <a:ext cx="10972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800600"/>
            <a:ext cx="30175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2A4A"/>
                </a:solidFill>
                <a:latin typeface="Segoe UI"/>
              </a:rPr>
              <a:t>Sources of truth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800600"/>
            <a:ext cx="76809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Segoe UI"/>
              </a:rPr>
              <a:t>Semantic layer FIRST → lineage → query corpus → business context.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166360"/>
            <a:ext cx="10972800" cy="411480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212080"/>
            <a:ext cx="30175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2A4A"/>
                </a:solidFill>
                <a:latin typeface="Segoe UI"/>
              </a:rPr>
              <a:t>Skills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5212080"/>
            <a:ext cx="76809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Segoe UI"/>
              </a:rPr>
              <a:t>Pairwise: knowledge skill (router) + unbook skill (process + analysis patterns).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577840"/>
            <a:ext cx="10972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623560"/>
            <a:ext cx="30175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2A4A"/>
                </a:solidFill>
                <a:latin typeface="Segoe UI"/>
              </a:rPr>
              <a:t>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5623560"/>
            <a:ext cx="76809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Segoe UI"/>
              </a:rPr>
              <a:t>Offline evals (pinned) + ablations + online provenance + correction harvesting.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E6BA8"/>
                </a:solidFill>
                <a:latin typeface="Segoe UI"/>
              </a:rPr>
              <a:t>VS ANTHROPIC'S 4-LAYER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Segoe UI"/>
              </a:rPr>
              <a:t>Our 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6677"/>
                </a:solidFill>
                <a:latin typeface="Segoe UI"/>
              </a:rPr>
              <a:t>4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47120" cy="9144"/>
          </a:xfrm>
          <a:prstGeom prst="rect">
            <a:avLst/>
          </a:prstGeom>
          <a:solidFill>
            <a:srgbClr val="DB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1247120" cy="329184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27432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325880"/>
            <a:ext cx="283464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Anthropic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325880"/>
            <a:ext cx="649224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eToro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1325880"/>
            <a:ext cx="82296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Priority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09344"/>
            <a:ext cx="11247120" cy="313334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8640" y="1655064"/>
            <a:ext cx="274320" cy="221894"/>
          </a:xfrm>
          <a:prstGeom prst="ellipse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1627632"/>
            <a:ext cx="2926080" cy="27675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Canonical datasets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40" y="1627632"/>
            <a:ext cx="6583680" cy="27675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etoro_kpi views own MIMO / AUM / PFOF; other domains overlap with DDR + Synapse TVFs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98480" y="1673352"/>
            <a:ext cx="822960" cy="185318"/>
          </a:xfrm>
          <a:prstGeom prst="rect">
            <a:avLst/>
          </a:prstGeom>
          <a:solidFill>
            <a:srgbClr val="ECEFF4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0" y="1655064"/>
            <a:ext cx="822960" cy="22189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  <a:latin typeface="Segoe UI"/>
              </a:rPr>
              <a:t>Med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922678"/>
            <a:ext cx="11247120" cy="313334"/>
          </a:xfrm>
          <a:prstGeom prst="rect">
            <a:avLst/>
          </a:prstGeom>
          <a:solidFill>
            <a:srgbClr val="FFFFFF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" y="1968398"/>
            <a:ext cx="274320" cy="221894"/>
          </a:xfrm>
          <a:prstGeom prst="ellipse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1940966"/>
            <a:ext cx="2926080" cy="27675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Skills + models colocation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40" y="1940966"/>
            <a:ext cx="6583680" cy="27675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Both live in DataPlatform; missing CI hook enforcing skill-touch on model PRs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98480" y="1986686"/>
            <a:ext cx="822960" cy="185318"/>
          </a:xfrm>
          <a:prstGeom prst="rect">
            <a:avLst/>
          </a:prstGeom>
          <a:solidFill>
            <a:srgbClr val="FFF3C4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0" y="1968398"/>
            <a:ext cx="822960" cy="22189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8B5A00"/>
                </a:solidFill>
                <a:latin typeface="Segoe UI"/>
              </a:rPr>
              <a:t>High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236012"/>
            <a:ext cx="11247120" cy="313334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48640" y="2281732"/>
            <a:ext cx="274320" cy="22189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2254300"/>
            <a:ext cx="2926080" cy="27675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UC metadata as product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40" y="2254300"/>
            <a:ext cx="6583680" cy="27675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Column-level descriptions deployed across 6 domains; ambivalent on retrieval lift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98480" y="2300020"/>
            <a:ext cx="822960" cy="185318"/>
          </a:xfrm>
          <a:prstGeom prst="rect">
            <a:avLst/>
          </a:prstGeom>
          <a:solidFill>
            <a:srgbClr val="ECEFF4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98480" y="2281732"/>
            <a:ext cx="822960" cy="22189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  <a:latin typeface="Segoe UI"/>
              </a:rPr>
              <a:t>Low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549347"/>
            <a:ext cx="11247120" cy="313334"/>
          </a:xfrm>
          <a:prstGeom prst="rect">
            <a:avLst/>
          </a:prstGeom>
          <a:solidFill>
            <a:srgbClr val="FFFFFF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48640" y="2595067"/>
            <a:ext cx="274320" cy="221894"/>
          </a:xfrm>
          <a:prstGeom prst="ellipse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2567635"/>
            <a:ext cx="2926080" cy="27675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Semantic layer (declarative)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7640" y="2567635"/>
            <a:ext cx="6583680" cy="27675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No declarative metric layer — but skills route to etoro_kpi canonical views first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98480" y="2613355"/>
            <a:ext cx="822960" cy="185318"/>
          </a:xfrm>
          <a:prstGeom prst="rect">
            <a:avLst/>
          </a:prstGeom>
          <a:solidFill>
            <a:srgbClr val="FFF3C4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98480" y="2595067"/>
            <a:ext cx="822960" cy="22189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8B5A00"/>
                </a:solidFill>
                <a:latin typeface="Segoe UI"/>
              </a:rPr>
              <a:t>High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862681"/>
            <a:ext cx="11247120" cy="313334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8640" y="2908401"/>
            <a:ext cx="274320" cy="22189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2880969"/>
            <a:ext cx="2926080" cy="27675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Lineage + table ranking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77640" y="2880969"/>
            <a:ext cx="6583680" cy="27675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Genie Code has UC lineage access today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698480" y="2926689"/>
            <a:ext cx="822960" cy="185318"/>
          </a:xfrm>
          <a:prstGeom prst="rect">
            <a:avLst/>
          </a:prstGeom>
          <a:solidFill>
            <a:srgbClr val="FFFFFF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98480" y="2908401"/>
            <a:ext cx="822960" cy="22189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  <a:latin typeface="Segoe U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176016"/>
            <a:ext cx="11247120" cy="313334"/>
          </a:xfrm>
          <a:prstGeom prst="rect">
            <a:avLst/>
          </a:prstGeom>
          <a:solidFill>
            <a:srgbClr val="FFFFFF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48640" y="3221736"/>
            <a:ext cx="274320" cy="221894"/>
          </a:xfrm>
          <a:prstGeom prst="ellipse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" y="3194304"/>
            <a:ext cx="2926080" cy="27675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Query corpus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77640" y="3194304"/>
            <a:ext cx="6583680" cy="27675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Captured (MCP + Genie gateway); distillation manual today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698480" y="3240024"/>
            <a:ext cx="822960" cy="185318"/>
          </a:xfrm>
          <a:prstGeom prst="rect">
            <a:avLst/>
          </a:prstGeom>
          <a:solidFill>
            <a:srgbClr val="ECEFF4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698480" y="3221736"/>
            <a:ext cx="822960" cy="22189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  <a:latin typeface="Segoe UI"/>
              </a:rPr>
              <a:t>Med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3489350"/>
            <a:ext cx="11247120" cy="313334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48640" y="3535070"/>
            <a:ext cx="274320" cy="221894"/>
          </a:xfrm>
          <a:prstGeom prst="ellipse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0120" y="3507638"/>
            <a:ext cx="2926080" cy="27675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Business context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77640" y="3507638"/>
            <a:ext cx="6583680" cy="27675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SME / TVF docs in Synapse Wiki + Confluence; not piped to agents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698480" y="3553358"/>
            <a:ext cx="822960" cy="185318"/>
          </a:xfrm>
          <a:prstGeom prst="rect">
            <a:avLst/>
          </a:prstGeom>
          <a:solidFill>
            <a:srgbClr val="ECEFF4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698480" y="3535070"/>
            <a:ext cx="822960" cy="22189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  <a:latin typeface="Segoe UI"/>
              </a:rPr>
              <a:t>Low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3802684"/>
            <a:ext cx="11247120" cy="313334"/>
          </a:xfrm>
          <a:prstGeom prst="rect">
            <a:avLst/>
          </a:prstGeom>
          <a:solidFill>
            <a:srgbClr val="FFFFFF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48640" y="3848404"/>
            <a:ext cx="274320" cy="22189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0120" y="3820972"/>
            <a:ext cx="2926080" cy="27675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Skills (knowledge router)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77640" y="3820972"/>
            <a:ext cx="6583680" cy="27675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Hub-and-spoke; ~13 entry + 45 sub-skills; MCP-served, CI-validated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698480" y="3866692"/>
            <a:ext cx="822960" cy="185318"/>
          </a:xfrm>
          <a:prstGeom prst="rect">
            <a:avLst/>
          </a:prstGeom>
          <a:solidFill>
            <a:srgbClr val="C8E6C9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698480" y="3848404"/>
            <a:ext cx="822960" cy="22189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  <a:latin typeface="Segoe UI"/>
              </a:rPr>
              <a:t>Maintain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4116019"/>
            <a:ext cx="11247120" cy="313334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48640" y="4161739"/>
            <a:ext cx="274320" cy="221894"/>
          </a:xfrm>
          <a:prstGeom prst="ellipse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0120" y="4134307"/>
            <a:ext cx="2926080" cy="27675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Skills (unbook / process)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77640" y="4134307"/>
            <a:ext cx="6583680" cy="27675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Substance authored (3-skill triple) — analyst-triggered by design today, not auto-fired on every question. Open H2 decision: promote a minimal subset?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698480" y="4180027"/>
            <a:ext cx="822960" cy="185318"/>
          </a:xfrm>
          <a:prstGeom prst="rect">
            <a:avLst/>
          </a:prstGeom>
          <a:solidFill>
            <a:srgbClr val="ECEFF4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698480" y="4161739"/>
            <a:ext cx="822960" cy="22189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  <a:latin typeface="Segoe UI"/>
              </a:rPr>
              <a:t>Open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4429353"/>
            <a:ext cx="11247120" cy="313334"/>
          </a:xfrm>
          <a:prstGeom prst="rect">
            <a:avLst/>
          </a:prstGeom>
          <a:solidFill>
            <a:srgbClr val="FFFFFF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48640" y="4475073"/>
            <a:ext cx="274320" cy="22189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0120" y="4447641"/>
            <a:ext cx="2926080" cy="27675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Offline evals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77640" y="4447641"/>
            <a:ext cx="6583680" cy="27675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None today — but /feedback app captures graded Q&amp;A in production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698480" y="4493361"/>
            <a:ext cx="822960" cy="185318"/>
          </a:xfrm>
          <a:prstGeom prst="rect">
            <a:avLst/>
          </a:prstGeom>
          <a:solidFill>
            <a:srgbClr val="FFCDD2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698480" y="4475073"/>
            <a:ext cx="822960" cy="22189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Segoe UI"/>
              </a:rPr>
              <a:t>Highest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" y="4742688"/>
            <a:ext cx="11247120" cy="313334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48640" y="4788408"/>
            <a:ext cx="274320" cy="22189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60120" y="4760976"/>
            <a:ext cx="2926080" cy="27675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Ablation methodology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977640" y="4760976"/>
            <a:ext cx="6583680" cy="27675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None — gated on evals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698480" y="4806696"/>
            <a:ext cx="822960" cy="185318"/>
          </a:xfrm>
          <a:prstGeom prst="rect">
            <a:avLst/>
          </a:prstGeom>
          <a:solidFill>
            <a:srgbClr val="ECEFF4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698480" y="4788408"/>
            <a:ext cx="822960" cy="22189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  <a:latin typeface="Segoe UI"/>
              </a:rPr>
              <a:t>Med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5056022"/>
            <a:ext cx="11247120" cy="313334"/>
          </a:xfrm>
          <a:prstGeom prst="rect">
            <a:avLst/>
          </a:prstGeom>
          <a:solidFill>
            <a:srgbClr val="FFFFFF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48640" y="5101742"/>
            <a:ext cx="274320" cy="22189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60120" y="5074310"/>
            <a:ext cx="2926080" cy="27675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Provenance footer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977640" y="5074310"/>
            <a:ext cx="6583680" cy="27675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No footer on Genie / MCP responses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698480" y="5120030"/>
            <a:ext cx="822960" cy="185318"/>
          </a:xfrm>
          <a:prstGeom prst="rect">
            <a:avLst/>
          </a:prstGeom>
          <a:solidFill>
            <a:srgbClr val="FFF3C4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698480" y="5101742"/>
            <a:ext cx="822960" cy="22189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8B5A00"/>
                </a:solidFill>
                <a:latin typeface="Segoe UI"/>
              </a:rPr>
              <a:t>High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5369356"/>
            <a:ext cx="11247120" cy="313334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48640" y="5415076"/>
            <a:ext cx="274320" cy="22189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60120" y="5387644"/>
            <a:ext cx="2926080" cy="27675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Adversarial review on every answer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977640" y="5387644"/>
            <a:ext cx="6583680" cy="27675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Deliberately NOT adopted — +32% tokens / +72% latency / +6% accuracy doesn't pencil. Pattern kept in library for manual high-stakes use.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698480" y="5433364"/>
            <a:ext cx="822960" cy="185318"/>
          </a:xfrm>
          <a:prstGeom prst="rect">
            <a:avLst/>
          </a:prstGeom>
          <a:solidFill>
            <a:srgbClr val="ECEFF4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698480" y="5415076"/>
            <a:ext cx="822960" cy="22189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  <a:latin typeface="Segoe UI"/>
              </a:rPr>
              <a:t>Reject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57200" y="5682691"/>
            <a:ext cx="11247120" cy="313334"/>
          </a:xfrm>
          <a:prstGeom prst="rect">
            <a:avLst/>
          </a:prstGeom>
          <a:solidFill>
            <a:srgbClr val="FFFFFF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48640" y="5728411"/>
            <a:ext cx="274320" cy="22189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60120" y="5700979"/>
            <a:ext cx="2926080" cy="27675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Passive monitoring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977640" y="5700979"/>
            <a:ext cx="6583680" cy="27675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genie_audit_events + MCP gateway logs live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698480" y="5746699"/>
            <a:ext cx="822960" cy="185318"/>
          </a:xfrm>
          <a:prstGeom prst="rect">
            <a:avLst/>
          </a:prstGeom>
          <a:solidFill>
            <a:srgbClr val="ECEFF4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698480" y="5728411"/>
            <a:ext cx="822960" cy="22189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  <a:latin typeface="Segoe UI"/>
              </a:rPr>
              <a:t>Med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57200" y="5996025"/>
            <a:ext cx="11247120" cy="313334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48640" y="6041745"/>
            <a:ext cx="274320" cy="221894"/>
          </a:xfrm>
          <a:prstGeom prst="ellipse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60120" y="6014313"/>
            <a:ext cx="2926080" cy="27675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Active correction harvesting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77640" y="6014313"/>
            <a:ext cx="6583680" cy="27675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Substrate exists (/feedback + MCP user-message logs); missing scheduled classifier + PR-draft agent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698480" y="6060033"/>
            <a:ext cx="822960" cy="185318"/>
          </a:xfrm>
          <a:prstGeom prst="rect">
            <a:avLst/>
          </a:prstGeom>
          <a:solidFill>
            <a:srgbClr val="FFF3C4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698480" y="6041745"/>
            <a:ext cx="822960" cy="22189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8B5A00"/>
                </a:solidFill>
                <a:latin typeface="Segoe UI"/>
              </a:rPr>
              <a:t>High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556677"/>
                </a:solidFill>
                <a:latin typeface="Segoe UI"/>
              </a:rPr>
              <a:t>Score: 5 green   ·   6 yellow   ·   4 red       1 red is a DELIBERATE non-adoption with rationale, not a gap (see Slide 6).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E6BA8"/>
                </a:solidFill>
                <a:latin typeface="Segoe UI"/>
              </a:rPr>
              <a:t>WHERE WE MEASURE UP — OR SURPASS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Segoe UI"/>
              </a:rPr>
              <a:t>What we're doing RIGHT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6677"/>
                </a:solidFill>
                <a:latin typeface="Segoe UI"/>
              </a:rPr>
              <a:t>5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47120" cy="9144"/>
          </a:xfrm>
          <a:prstGeom prst="rect">
            <a:avLst/>
          </a:prstGeom>
          <a:solidFill>
            <a:srgbClr val="DB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155680" cy="5029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1" i="0">
                <a:solidFill>
                  <a:srgbClr val="0E6BA8"/>
                </a:solidFill>
                <a:latin typeface="Segoe UI"/>
              </a:rPr>
              <a:t>•  </a:t>
            </a:r>
            <a:r>
              <a:rPr sz="1300" b="1" i="0">
                <a:solidFill>
                  <a:srgbClr val="1A1A2E"/>
                </a:solidFill>
                <a:latin typeface="Segoe UI"/>
              </a:rPr>
              <a:t>Knowledge skill corpus. </a:t>
            </a:r>
            <a:r>
              <a:rPr sz="1300" b="0" i="0">
                <a:solidFill>
                  <a:srgbClr val="1A1A2E"/>
                </a:solidFill>
                <a:latin typeface="Segoe UI"/>
              </a:rPr>
              <a:t>Hub-and-spoke routing, CI-enforced frontmatter, kebab-case names, required body sections. Identical shape to Anthropic's appendix skeleton.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300" b="1" i="0">
                <a:solidFill>
                  <a:srgbClr val="0E6BA8"/>
                </a:solidFill>
                <a:latin typeface="Segoe UI"/>
              </a:rPr>
              <a:t>•  </a:t>
            </a:r>
            <a:r>
              <a:rPr sz="1300" b="1" i="0">
                <a:solidFill>
                  <a:srgbClr val="1A1A2E"/>
                </a:solidFill>
                <a:latin typeface="Segoe UI"/>
              </a:rPr>
              <a:t>Unbook SUBSTANCE in production — decomposed even better than Anthropic's. </a:t>
            </a:r>
            <a:r>
              <a:rPr sz="1300" b="0" i="0">
                <a:solidFill>
                  <a:srgbClr val="1A1A2E"/>
                </a:solidFill>
                <a:latin typeface="Segoe UI"/>
              </a:rPr>
              <a:t>Three-skill triple on Databricks Assistant (data-analysis-playbook + data-analysis-patterns + data-analysis-pattern-library) splits process from routing from detail. Caveat: analyst-triggered today by design. Anthropic's lift comes from auto-firing; that decision is open for us (Slide 7).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300" b="1" i="0">
                <a:solidFill>
                  <a:srgbClr val="0E6BA8"/>
                </a:solidFill>
                <a:latin typeface="Segoe UI"/>
              </a:rPr>
              <a:t>•  </a:t>
            </a:r>
            <a:r>
              <a:rPr sz="1300" b="1" i="0">
                <a:solidFill>
                  <a:srgbClr val="1A1A2E"/>
                </a:solidFill>
                <a:latin typeface="Segoe UI"/>
              </a:rPr>
              <a:t>Skills + models in the same repo (DataPlatform). </a:t>
            </a:r>
            <a:r>
              <a:rPr sz="1300" b="0" i="0">
                <a:solidFill>
                  <a:srgbClr val="1A1A2E"/>
                </a:solidFill>
                <a:latin typeface="Segoe UI"/>
              </a:rPr>
              <a:t>CI-deployed. Same colocation principle Anthropic endorses — what's still missing is the enforcement hook.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300" b="1" i="0">
                <a:solidFill>
                  <a:srgbClr val="0E6BA8"/>
                </a:solidFill>
                <a:latin typeface="Segoe UI"/>
              </a:rPr>
              <a:t>•  </a:t>
            </a:r>
            <a:r>
              <a:rPr sz="1300" b="1" i="0">
                <a:solidFill>
                  <a:srgbClr val="1A1A2E"/>
                </a:solidFill>
                <a:latin typeface="Segoe UI"/>
              </a:rPr>
              <a:t>Cross-surface portability. </a:t>
            </a:r>
            <a:r>
              <a:rPr sz="1300" b="0" i="0">
                <a:solidFill>
                  <a:srgbClr val="1A1A2E"/>
                </a:solidFill>
                <a:latin typeface="Segoe UI"/>
              </a:rPr>
              <a:t>Same skill served via MCP gateway → Cursor IDE, Genie Code, standalone agents.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300" b="1" i="0">
                <a:solidFill>
                  <a:srgbClr val="0E6BA8"/>
                </a:solidFill>
                <a:latin typeface="Segoe UI"/>
              </a:rPr>
              <a:t>•  </a:t>
            </a:r>
            <a:r>
              <a:rPr sz="1300" b="1" i="0">
                <a:solidFill>
                  <a:srgbClr val="1A1A2E"/>
                </a:solidFill>
                <a:latin typeface="Segoe UI"/>
              </a:rPr>
              <a:t>Telemetry foundations live. </a:t>
            </a:r>
            <a:r>
              <a:rPr sz="1300" b="0" i="0">
                <a:solidFill>
                  <a:srgbClr val="1A1A2E"/>
                </a:solidFill>
                <a:latin typeface="Segoe UI"/>
              </a:rPr>
              <a:t>genie_audit_events + monitoring_mcp_logs_mcp_gateway capture skill loads, NL prompts, generated SQL, query-history joins.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300" b="1" i="0">
                <a:solidFill>
                  <a:srgbClr val="0E6BA8"/>
                </a:solidFill>
                <a:latin typeface="Segoe UI"/>
              </a:rPr>
              <a:t>•  </a:t>
            </a:r>
            <a:r>
              <a:rPr sz="1300" b="1" i="0">
                <a:solidFill>
                  <a:srgbClr val="1A1A2E"/>
                </a:solidFill>
                <a:latin typeface="Segoe UI"/>
              </a:rPr>
              <a:t>/feedback Databricks app — strategic asset. </a:t>
            </a:r>
            <a:r>
              <a:rPr sz="1300" b="0" i="0">
                <a:solidFill>
                  <a:srgbClr val="1A1A2E"/>
                </a:solidFill>
                <a:latin typeface="Segoe UI"/>
              </a:rPr>
              <a:t>Every Genie answer one-click graded; landed in de_output_genie_code_skill_feedback. Fastest path to a labeled eval set in the industry — Anthropic builds evals by hand; we harvest them in production with grades.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300" b="1" i="0">
                <a:solidFill>
                  <a:srgbClr val="0E6BA8"/>
                </a:solidFill>
                <a:latin typeface="Segoe UI"/>
              </a:rPr>
              <a:t>•  </a:t>
            </a:r>
            <a:r>
              <a:rPr sz="1300" b="1" i="0">
                <a:solidFill>
                  <a:srgbClr val="1A1A2E"/>
                </a:solidFill>
                <a:latin typeface="Segoe UI"/>
              </a:rPr>
              <a:t>UC as a documented warehouse. </a:t>
            </a:r>
            <a:r>
              <a:rPr sz="1300" b="0" i="0">
                <a:solidFill>
                  <a:srgbClr val="1A1A2E"/>
                </a:solidFill>
                <a:latin typeface="Segoe UI"/>
              </a:rPr>
              <a:t>~10k+ column comments deployed across 6 domains.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300" b="1" i="0">
                <a:solidFill>
                  <a:srgbClr val="0E6BA8"/>
                </a:solidFill>
                <a:latin typeface="Segoe UI"/>
              </a:rPr>
              <a:t>•  </a:t>
            </a:r>
            <a:r>
              <a:rPr sz="1300" b="1" i="0">
                <a:solidFill>
                  <a:srgbClr val="1A1A2E"/>
                </a:solidFill>
                <a:latin typeface="Segoe UI"/>
              </a:rPr>
              <a:t>Workspace-level assistant defaults exist. </a:t>
            </a:r>
            <a:r>
              <a:rPr sz="1300" b="0" i="0">
                <a:solidFill>
                  <a:srgbClr val="1A1A2E"/>
                </a:solidFill>
                <a:latin typeface="Segoe UI"/>
              </a:rPr>
              <a:t>.assistant_workspace_instructions.md at workspace root is the lever for cross-Genie-Code behavior — already where the analysis triple is anchored.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E6BA8"/>
                </a:solidFill>
                <a:latin typeface="Segoe UI"/>
              </a:rPr>
              <a:t>THE FOUR LIVE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Segoe UI"/>
              </a:rPr>
              <a:t>What we're doing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6677"/>
                </a:solidFill>
                <a:latin typeface="Segoe UI"/>
              </a:rPr>
              <a:t>6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47120" cy="9144"/>
          </a:xfrm>
          <a:prstGeom prst="rect">
            <a:avLst/>
          </a:prstGeom>
          <a:solidFill>
            <a:srgbClr val="DB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02920" cy="5029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280160"/>
            <a:ext cx="105156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Segoe UI"/>
              </a:rPr>
              <a:t>Gap 1 — We cannot measure our accuracy yet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591056"/>
            <a:ext cx="105156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Zero pinned Q&amp;A evals. We don't know if our agents are at 21% or 95%. Every gap below is invisible without this. But: /feedback already captures graded Q&amp;A — path is to synthesize the eval set from that table, not author from scratch.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42032"/>
            <a:ext cx="502920" cy="5029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60320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542032"/>
            <a:ext cx="105156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Segoe UI"/>
              </a:rPr>
              <a:t>Gap 2 — Skill ↔ model drift has no CI guard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852928"/>
            <a:ext cx="105156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Anthropic: 90% of their data-model PRs include a skill-file change in the same diff, enforced by CI. We have colocation but no enforcement. Every canonical-view change silently rots the skill that points at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03904"/>
            <a:ext cx="502920" cy="5029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822192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803904"/>
            <a:ext cx="105156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Segoe UI"/>
              </a:rPr>
              <a:t>Gap 3 — No provenance, no online safety 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114800"/>
            <a:ext cx="105156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Every Anthropic response carries a footer: source tier / freshness / owner / skill used. We ship raw numbers with no signal. Silent wrong answers are our highest-risk failure mode and we have zero mitigation. KEY INSIGHT: our existing final-answer-assembly pattern IS the provenance footer — Gap 3 collapses into one cheap fix (Slide 7+9).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065776"/>
            <a:ext cx="502920" cy="5029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084064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065776"/>
            <a:ext cx="105156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Segoe UI"/>
              </a:rPr>
              <a:t>Gap 4 — No active correction loop (yet)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376672"/>
            <a:ext cx="105156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Anthropic: scheduled agent scans channels every few hours for correction language → drafts skill-file PRs → tags domain owner. We have the substrate (/feedback + MCP user-message logs); MCP harvest is ready to start today; Genie Code via our enrichment; classic Genie waits for Databricks logs (out of our control).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E6BA8"/>
                </a:solidFill>
                <a:latin typeface="Segoe UI"/>
              </a:rPr>
              <a:t>ONE ANTHROPIC RECOMMENDATION, REJECTED WITH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Segoe UI"/>
              </a:rPr>
              <a:t>What we're DELIBERATELY NOT adopting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6677"/>
                </a:solidFill>
                <a:latin typeface="Segoe UI"/>
              </a:rPr>
              <a:t>7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47120" cy="9144"/>
          </a:xfrm>
          <a:prstGeom prst="rect">
            <a:avLst/>
          </a:prstGeom>
          <a:solidFill>
            <a:srgbClr val="DB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155680" cy="640080"/>
          </a:xfrm>
          <a:prstGeom prst="rect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80160"/>
            <a:ext cx="106070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Segoe UI"/>
              </a:rPr>
              <a:t>Mandatory adversarial review on every user-facing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Segoe UI"/>
              </a:rPr>
              <a:t>Anthropic enforces a Challenge-the-Solution sub-agent call on every analytical answer: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3566160" cy="822960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1828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  <a:latin typeface="Segoe UI"/>
              </a:rPr>
              <a:t>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70048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2E7D32"/>
                </a:solidFill>
                <a:latin typeface="Segoe UI"/>
              </a:rPr>
              <a:t>+6%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2377440"/>
            <a:ext cx="3566160" cy="822960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2423160"/>
            <a:ext cx="1828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  <a:latin typeface="Segoe UI"/>
              </a:rPr>
              <a:t>Tokens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670048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F9A825"/>
                </a:solidFill>
                <a:latin typeface="Segoe UI"/>
              </a:rPr>
              <a:t>+32%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2377440"/>
            <a:ext cx="3566160" cy="822960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9" y="2423160"/>
            <a:ext cx="1828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  <a:latin typeface="Segoe UI"/>
              </a:rPr>
              <a:t>Latency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9" y="2670048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C62828"/>
                </a:solidFill>
                <a:latin typeface="Segoe UI"/>
              </a:rPr>
              <a:t>+72%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38328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E6BA8"/>
                </a:solidFill>
                <a:latin typeface="Segoe UI"/>
              </a:rPr>
              <a:t>Our position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03320"/>
            <a:ext cx="111556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Segoe UI"/>
              </a:rPr>
              <a:t>The economics don't pencil at current model costs. A nearly-doubled response time on every Genie / MCP query — for a 6-point accuracy lift that's likely smaller for our use case because most of our questions are KPI-style, not open-ended diagnostics — is not a trade users will accept on day-to-day questions.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61772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E6BA8"/>
                </a:solidFill>
                <a:latin typeface="Segoe UI"/>
              </a:rPr>
              <a:t>What we keep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937760"/>
            <a:ext cx="111556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Segoe UI"/>
              </a:rPr>
              <a:t>The Challenge-the-Solution pattern stays in data-analysis-pattern-library and is invoked MANUALLY by analysts on high-stakes analyses (board metrics, regulator-facing numbers, model-validation work) — same procedure, applied where the latency cost is justified.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E6BA8"/>
                </a:solidFill>
                <a:latin typeface="Segoe UI"/>
              </a:rPr>
              <a:t>Revisit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989320"/>
            <a:ext cx="111556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1A1A2E"/>
                </a:solidFill>
                <a:latin typeface="Segoe UI"/>
              </a:rPr>
              <a:t>Every 6 months as model cost / latency curves move. If Claude latency drops 3x or eval data shows our domain accuracy is below 80%, this becomes a "yes."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E6BA8"/>
                </a:solidFill>
                <a:latin typeface="Segoe UI"/>
              </a:rPr>
              <a:t>SHOULD WE PROMOTE A MINIMAL UNBOOK SUBSET TO AUTO-FIRE?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Segoe UI"/>
              </a:rPr>
              <a:t>The open H2 design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6677"/>
                </a:solidFill>
                <a:latin typeface="Segoe UI"/>
              </a:rPr>
              <a:t>8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47120" cy="9144"/>
          </a:xfrm>
          <a:prstGeom prst="rect">
            <a:avLst/>
          </a:prstGeom>
          <a:solidFill>
            <a:srgbClr val="DB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155680" cy="64008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80160"/>
            <a:ext cx="1069848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 i="1">
                <a:solidFill>
                  <a:srgbClr val="1A1A2E"/>
                </a:solidFill>
                <a:latin typeface="Segoe UI"/>
              </a:rPr>
              <a:t>Anthropic's unbook fires on every question. Ours is analyst-triggered. Should we promote a minimal subset to auto-fire?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Segoe UI"/>
              </a:rPr>
              <a:t>Three candidates, ordered by cost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11155680" cy="3657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377440"/>
            <a:ext cx="168249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Candidate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0592" y="2377440"/>
            <a:ext cx="396849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What fires on every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377440"/>
            <a:ext cx="104241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Token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4112" y="2377440"/>
            <a:ext cx="122529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Latency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5712" y="2377440"/>
            <a:ext cx="250545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What it buys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697480"/>
            <a:ext cx="11155680" cy="868680"/>
          </a:xfrm>
          <a:prstGeom prst="rect">
            <a:avLst/>
          </a:prstGeom>
          <a:solidFill>
            <a:srgbClr val="C8E6C9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743200"/>
            <a:ext cx="1682496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(a) final-answer-assembly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0592" y="2743200"/>
            <a:ext cx="3968496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Mandatory output template: lead with answer + confidence H/M/L + metric definition + provenance footer.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743200"/>
            <a:ext cx="1042416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+5–10%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54112" y="2743200"/>
            <a:ext cx="1225296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Negligible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2743200"/>
            <a:ext cx="2505456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Subsumes Gap 3. Cheapest. RECOMMENDED START.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566160"/>
            <a:ext cx="111556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3611880"/>
            <a:ext cx="1682496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(b) + metric-definition-check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0592" y="3611880"/>
            <a:ext cx="3968496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At deliver-time: re-state the metric the query computes; flag if it diverges from likely user intent.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3611880"/>
            <a:ext cx="1042416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+10–15%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54112" y="3611880"/>
            <a:ext cx="1225296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+5–10s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5712" y="3611880"/>
            <a:ext cx="2505456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Attacks ambiguity at output time, not just at planning.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434840"/>
            <a:ext cx="11155680" cy="868680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4480560"/>
            <a:ext cx="1682496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(c) + question-framing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50592" y="4480560"/>
            <a:ext cx="3968496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At intake: surface ambiguous terms ("last week"? "active"?) — ask one targeted clarifying question.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4480560"/>
            <a:ext cx="1042416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+15–25%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54112" y="4480560"/>
            <a:ext cx="1225296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+10–20s on ambiguous Qs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25712" y="4480560"/>
            <a:ext cx="2505456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Closest to Anthropic's pattern — clarify before answering.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440680"/>
            <a:ext cx="11155680" cy="914400"/>
          </a:xfrm>
          <a:prstGeom prst="rect">
            <a:avLst/>
          </a:prstGeom>
          <a:solidFill>
            <a:srgbClr val="ECEFF4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513832"/>
            <a:ext cx="1069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E6BA8"/>
                </a:solidFill>
                <a:latin typeface="Segoe UI"/>
              </a:rPr>
              <a:t>Recommendation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806440"/>
            <a:ext cx="106984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Start with (a). It's a routing change, not content authoring — data-analysis-patterns already has a "Communication-only" output mode. Measure via the eval gate (Slide 9). Promote to (b) or (c) only if data justifies it. The 7-step heavyweight loop stays analyst-triggered for non-trivial analyses.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E6BA8"/>
                </a:solidFill>
                <a:latin typeface="Segoe UI"/>
              </a:rPr>
              <a:t>DON'T SWEAT THESE; REVISIT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Segoe UI"/>
              </a:rPr>
              <a:t>Ambivalent investments + what we deferred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6677"/>
                </a:solidFill>
                <a:latin typeface="Segoe UI"/>
              </a:rPr>
              <a:t>9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47120" cy="9144"/>
          </a:xfrm>
          <a:prstGeom prst="rect">
            <a:avLst/>
          </a:prstGeom>
          <a:solidFill>
            <a:srgbClr val="DB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5486400" cy="4937760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80160"/>
            <a:ext cx="5029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E6BA8"/>
                </a:solidFill>
                <a:latin typeface="Segoe UI"/>
              </a:rPr>
              <a:t>AMBIVALENT (DON'T SWEAT)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50292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B2A4A"/>
                </a:solidFill>
                <a:latin typeface="Segoe UI"/>
              </a:rPr>
              <a:t>UC column descriptions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48840"/>
            <a:ext cx="5029200" cy="3657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Segoe UI"/>
              </a:rPr>
              <a:t>Heavy investment to date. Anthropic explicitly says docs help but aren't the bottleneck once a semantic layer + skill router exist — they confirmed via ablation that giving the agent grep over thousands of analyst notebooks moved accuracy &lt;1pt.
Verdict: keep what we have, stop investing net-new effort here until evals show the gap. Reallocate the column-doc team-time to evals + correction harvesting.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188720"/>
            <a:ext cx="5486400" cy="4937760"/>
          </a:xfrm>
          <a:prstGeom prst="rect">
            <a:avLst/>
          </a:prstGeom>
          <a:solidFill>
            <a:srgbClr val="ECEFF4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80160"/>
            <a:ext cx="5029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E6BA8"/>
                </a:solidFill>
                <a:latin typeface="Segoe UI"/>
              </a:rPr>
              <a:t>DEFERRED BY DESIGN (REVISIT)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91640"/>
            <a:ext cx="50292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B2A4A"/>
                </a:solidFill>
                <a:latin typeface="Segoe UI"/>
              </a:rPr>
              <a:t>Declarative semantic layer (UC metric views)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48840"/>
            <a:ext cx="5029200" cy="3840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Segoe UI"/>
              </a:rPr>
              <a:t>We have etoro_kpi.* canonical prep views + skill-based routing. For ~5 headline KPIs the agent already lands on a canonical view without a declarative metric primitive.
Missing: the compilation step. In a UC-metric-views world the agent calls metric.measure("revenue", group_by="region") and gets one number — same number every BI surface produces.
Anthropic's data: this is their highest-trust path and the mandatory default. Economics changed when UC metric views went GA in 2026. A 10-KPI pilot would compress ambiguity on the most-asked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E6BA8"/>
                </a:solidFill>
                <a:latin typeface="Segoe UI"/>
              </a:rPr>
              <a:t>OUR SINGLE BIGGEST H2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Segoe UI"/>
              </a:rPr>
              <a:t>The shortcut: synthesize evals from the /feedback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6677"/>
                </a:solidFill>
                <a:latin typeface="Segoe UI"/>
              </a:rPr>
              <a:t>10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47120" cy="9144"/>
          </a:xfrm>
          <a:prstGeom prst="rect">
            <a:avLst/>
          </a:prstGeom>
          <a:solidFill>
            <a:srgbClr val="DB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155680" cy="64008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80160"/>
            <a:ext cx="106984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1A1A2E"/>
                </a:solidFill>
                <a:latin typeface="Segoe UI"/>
              </a:rPr>
              <a:t>"Pin every eval to a snapshot date, write it against a stable fact table, or have the grader judge the agent's query rather than its number."  — Anthropic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Segoe UI"/>
              </a:rPr>
              <a:t>/feedback app already captures, per Genie submission: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77440"/>
            <a:ext cx="164592" cy="164592"/>
          </a:xfrm>
          <a:prstGeom prst="rect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59152"/>
            <a:ext cx="33832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Segoe UI"/>
              </a:rPr>
              <a:t>NL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377440"/>
            <a:ext cx="164592" cy="164592"/>
          </a:xfrm>
          <a:prstGeom prst="rect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359152"/>
            <a:ext cx="33832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Segoe UI"/>
              </a:rPr>
              <a:t>Skills the agent loaded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59" y="2377440"/>
            <a:ext cx="164592" cy="164592"/>
          </a:xfrm>
          <a:prstGeom prst="rect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9" y="2359152"/>
            <a:ext cx="33832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Segoe UI"/>
              </a:rPr>
              <a:t>SQL the agent generated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743200"/>
            <a:ext cx="164592" cy="164592"/>
          </a:xfrm>
          <a:prstGeom prst="rect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724912"/>
            <a:ext cx="33832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Segoe UI"/>
              </a:rPr>
              <a:t>Numeric result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2743200"/>
            <a:ext cx="164592" cy="164592"/>
          </a:xfrm>
          <a:prstGeom prst="rect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2724912"/>
            <a:ext cx="33832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Segoe UI"/>
              </a:rPr>
              <a:t>User grade (1–5 ★)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59" y="2743200"/>
            <a:ext cx="164592" cy="164592"/>
          </a:xfrm>
          <a:prstGeom prst="rect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9" y="2724912"/>
            <a:ext cx="33832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Segoe UI"/>
              </a:rPr>
              <a:t>Optional free-text correction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24612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Segoe UI"/>
              </a:rPr>
              <a:t>Pareto eval-set construction: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3657600"/>
            <a:ext cx="329184" cy="329184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657600"/>
            <a:ext cx="32918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694176"/>
            <a:ext cx="1051560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A2E"/>
                </a:solidFill>
                <a:latin typeface="Segoe UI"/>
              </a:rPr>
              <a:t>4★ + 5★ submissions → graded-correct canonical Q&amp;A pairs.</a:t>
            </a:r>
            <a:r>
              <a:rPr sz="1100" b="0" i="0">
                <a:solidFill>
                  <a:srgbClr val="1A1A2E"/>
                </a:solidFill>
                <a:latin typeface="Segoe UI"/>
              </a:rPr>
              <a:t> Pin to created_at snapshot. Grader checks SQL shape, not number.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4041648"/>
            <a:ext cx="329184" cy="329184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041648"/>
            <a:ext cx="32918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078224"/>
            <a:ext cx="1051560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A2E"/>
                </a:solidFill>
                <a:latin typeface="Segoe UI"/>
              </a:rPr>
              <a:t>1★ + 2★ submissions with corrections → correction-harvest source.</a:t>
            </a:r>
            <a:r>
              <a:rPr sz="1100" b="0" i="0">
                <a:solidFill>
                  <a:srgbClr val="1A1A2E"/>
                </a:solidFill>
                <a:latin typeface="Segoe UI"/>
              </a:rPr>
              <a:t> Each is a candidate skill-file edit.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4425696"/>
            <a:ext cx="329184" cy="329184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425696"/>
            <a:ext cx="32918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462272"/>
            <a:ext cx="1051560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A2E"/>
                </a:solidFill>
                <a:latin typeface="Segoe UI"/>
              </a:rPr>
              <a:t>Frequency-weight by NL similarity (LLM clustering).</a:t>
            </a:r>
            <a:r>
              <a:rPr sz="1100" b="0" i="0">
                <a:solidFill>
                  <a:srgbClr val="1A1A2E"/>
                </a:solidFill>
                <a:latin typeface="Segoe UI"/>
              </a:rPr>
              <a:t> Top 30 question clusters per domain cover the long tail.</a:t>
            </a:r>
          </a:p>
        </p:txBody>
      </p:sp>
      <p:sp>
        <p:nvSpPr>
          <p:cNvPr id="32" name="Oval 31"/>
          <p:cNvSpPr/>
          <p:nvPr/>
        </p:nvSpPr>
        <p:spPr>
          <a:xfrm>
            <a:off x="548640" y="4809744"/>
            <a:ext cx="329184" cy="329184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809744"/>
            <a:ext cx="32918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4846320"/>
            <a:ext cx="1051560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A2E"/>
                </a:solidFill>
                <a:latin typeface="Segoe UI"/>
              </a:rPr>
              <a:t>Land eval runs as telemetry in a Delta table.</a:t>
            </a:r>
            <a:r>
              <a:rPr sz="1100" b="0" i="0">
                <a:solidFill>
                  <a:srgbClr val="1A1A2E"/>
                </a:solidFill>
                <a:latin typeface="Segoe UI"/>
              </a:rPr>
              <a:t> skill_version_sha, model_id, run_ts, passed_bool, per_assertion_json, tokens, latency.</a:t>
            </a:r>
          </a:p>
        </p:txBody>
      </p:sp>
      <p:sp>
        <p:nvSpPr>
          <p:cNvPr id="35" name="Oval 34"/>
          <p:cNvSpPr/>
          <p:nvPr/>
        </p:nvSpPr>
        <p:spPr>
          <a:xfrm>
            <a:off x="548640" y="5193792"/>
            <a:ext cx="329184" cy="329184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193792"/>
            <a:ext cx="32918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230368"/>
            <a:ext cx="1051560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A2E"/>
                </a:solidFill>
                <a:latin typeface="Segoe UI"/>
              </a:rPr>
              <a:t>Wire into CI on every skill PR.</a:t>
            </a:r>
            <a:r>
              <a:rPr sz="1100" b="0" i="0">
                <a:solidFill>
                  <a:srgbClr val="1A1A2E"/>
                </a:solidFill>
                <a:latin typeface="Segoe UI"/>
              </a:rPr>
              <a:t> Run only the eval slice affected by the diff.</a:t>
            </a:r>
          </a:p>
        </p:txBody>
      </p:sp>
      <p:sp>
        <p:nvSpPr>
          <p:cNvPr id="38" name="Oval 37"/>
          <p:cNvSpPr/>
          <p:nvPr/>
        </p:nvSpPr>
        <p:spPr>
          <a:xfrm>
            <a:off x="548640" y="5577840"/>
            <a:ext cx="329184" cy="329184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577840"/>
            <a:ext cx="32918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614416"/>
            <a:ext cx="1051560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A2E"/>
                </a:solidFill>
                <a:latin typeface="Segoe UI"/>
              </a:rPr>
              <a:t>Gate at 90% per domain (Anthropic's threshold).</a:t>
            </a:r>
            <a:r>
              <a:rPr sz="1100" b="0" i="0">
                <a:solidFill>
                  <a:srgbClr val="1A1A2E"/>
                </a:solidFill>
                <a:latin typeface="Segoe UI"/>
              </a:rPr>
              <a:t> No stakeholder announcement below the gate.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E6BA8"/>
                </a:solidFill>
                <a:latin typeface="Segoe UI"/>
              </a:rPr>
              <a:t>CHEAPEST MITIGATION FOR SILENT WRONG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Segoe UI"/>
              </a:rPr>
              <a:t>Provenance footer — surfaces in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6677"/>
                </a:solidFill>
                <a:latin typeface="Segoe UI"/>
              </a:rPr>
              <a:t>11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47120" cy="9144"/>
          </a:xfrm>
          <a:prstGeom prst="rect">
            <a:avLst/>
          </a:prstGeom>
          <a:solidFill>
            <a:srgbClr val="DB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155680" cy="1417320"/>
          </a:xfrm>
          <a:prstGeom prst="rect">
            <a:avLst/>
          </a:prstGeom>
          <a:solidFill>
            <a:srgbClr val="14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80160"/>
            <a:ext cx="106984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B7CFE6"/>
                </a:solidFill>
                <a:latin typeface="Segoe UI"/>
              </a:rPr>
              <a:t>Footer template Anthropic appends to every answer: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069848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Source: semantic layer / curated view / raw exploration
Freshness: data through YYYY-MM-DD
Owner: &lt;team&gt;
Skill used: &lt;skill_id&gt;@&lt;commit_sha&gt;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Segoe UI"/>
              </a:rPr>
              <a:t>Implementation paths — only the surfaces we control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54680"/>
            <a:ext cx="11247120" cy="329184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320040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Surface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200400"/>
            <a:ext cx="585216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How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3200400"/>
            <a:ext cx="164592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83864"/>
            <a:ext cx="11247120" cy="777240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29584"/>
            <a:ext cx="329184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Segoe UI"/>
              </a:rPr>
              <a:t>MCP gateway responses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529584"/>
            <a:ext cx="58521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Append footer in the gateway middleware. We own the layer end-to-end.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0" y="3685032"/>
            <a:ext cx="1645920" cy="374904"/>
          </a:xfrm>
          <a:prstGeom prst="rect">
            <a:avLst/>
          </a:prstGeom>
          <a:solidFill>
            <a:srgbClr val="C8E6C9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3666744"/>
            <a:ext cx="16459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Segoe UI"/>
              </a:rPr>
              <a:t>Easy · 1 PR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986784"/>
            <a:ext cx="1124712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032504"/>
            <a:ext cx="329184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Segoe UI"/>
              </a:rPr>
              <a:t>Genie Code (Databricks Assistant in notebooks)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4032504"/>
            <a:ext cx="58521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Two options: (a) add the mandate to .assistant_workspace_instructions.md at workspace root — applies globally; or (b) push a dedicated provenance-footer skill into /.assistant/skills/.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0" y="4187952"/>
            <a:ext cx="1645920" cy="374904"/>
          </a:xfrm>
          <a:prstGeom prst="rect">
            <a:avLst/>
          </a:prstGeom>
          <a:solidFill>
            <a:srgbClr val="FFF3C4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0" y="4169664"/>
            <a:ext cx="16459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Segoe UI"/>
              </a:rPr>
              <a:t>Medium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489704"/>
            <a:ext cx="11247120" cy="777240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535424"/>
            <a:ext cx="329184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1">
                <a:solidFill>
                  <a:srgbClr val="556677"/>
                </a:solidFill>
                <a:latin typeface="Segoe UI"/>
              </a:rPr>
              <a:t>Cursor 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4535424"/>
            <a:ext cx="58521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1">
                <a:solidFill>
                  <a:srgbClr val="556677"/>
                </a:solidFill>
                <a:latin typeface="Segoe UI"/>
              </a:rPr>
              <a:t>SKIP — only our custom MCP sees skill-load context anyway.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0" y="4690872"/>
            <a:ext cx="1645920" cy="374904"/>
          </a:xfrm>
          <a:prstGeom prst="rect">
            <a:avLst/>
          </a:prstGeom>
          <a:solidFill>
            <a:srgbClr val="ECEFF4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4672584"/>
            <a:ext cx="16459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556677"/>
                </a:solidFill>
                <a:latin typeface="Segoe UI"/>
              </a:rPr>
              <a:t>n/a — covered by MCP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992624"/>
            <a:ext cx="1124712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038344"/>
            <a:ext cx="329184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1">
                <a:solidFill>
                  <a:srgbClr val="556677"/>
                </a:solidFill>
                <a:latin typeface="Segoe UI"/>
              </a:rPr>
              <a:t>Classic Genie Space (chat surface)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5038344"/>
            <a:ext cx="58521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1">
                <a:solidFill>
                  <a:srgbClr val="556677"/>
                </a:solidFill>
                <a:latin typeface="Segoe UI"/>
              </a:rPr>
              <a:t>SKIP — no skill / instruction injection point yet. Databricks-controlled. Wait for product.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0" y="5193792"/>
            <a:ext cx="1645920" cy="374904"/>
          </a:xfrm>
          <a:prstGeom prst="rect">
            <a:avLst/>
          </a:prstGeom>
          <a:solidFill>
            <a:srgbClr val="ECEFF4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0" y="5175504"/>
            <a:ext cx="16459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556677"/>
                </a:solidFill>
                <a:latin typeface="Segoe UI"/>
              </a:rPr>
              <a:t>Out of scope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E6BA8"/>
                </a:solidFill>
                <a:latin typeface="Segoe UI"/>
              </a:rPr>
              <a:t>THE BIG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Segoe UI"/>
              </a:rPr>
              <a:t>The machine — from static corpus to living business brain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6677"/>
                </a:solidFill>
                <a:latin typeface="Segoe UI"/>
              </a:rPr>
              <a:t>12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47120" cy="9144"/>
          </a:xfrm>
          <a:prstGeom prst="rect">
            <a:avLst/>
          </a:prstGeom>
          <a:solidFill>
            <a:srgbClr val="DB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 i="1">
                <a:solidFill>
                  <a:srgbClr val="1A1A2E"/>
                </a:solidFill>
                <a:latin typeface="Segoe UI"/>
              </a:rPr>
              <a:t>The point of H2 is not to ship more skills. It's to stop authoring them as one-off artifacts and start running them as the output of an autonomous system.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611880" cy="365760"/>
          </a:xfrm>
          <a:prstGeom prst="rect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36118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INPUTS — sensors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3611880" cy="3154680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2377440"/>
            <a:ext cx="91440" cy="91440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313432"/>
            <a:ext cx="31546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New Confluence docs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2788920"/>
            <a:ext cx="91440" cy="91440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724912"/>
            <a:ext cx="31546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New SharePoint docs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200400"/>
            <a:ext cx="91440" cy="91440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136392"/>
            <a:ext cx="31546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UC schema changes (information_schema + UC lineage)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3611880"/>
            <a:ext cx="91440" cy="91440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547872"/>
            <a:ext cx="31546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DataPlatform PRs touching canonical models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023360"/>
            <a:ext cx="91440" cy="91440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959352"/>
            <a:ext cx="31546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MCP query telemetry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4434840"/>
            <a:ext cx="91440" cy="91440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370832"/>
            <a:ext cx="31546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Genie audit events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4846320"/>
            <a:ext cx="91440" cy="91440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782312"/>
            <a:ext cx="31546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/feedback 1–2★ grades + correction comments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160520" y="3291840"/>
            <a:ext cx="274320" cy="502920"/>
          </a:xfrm>
          <a:prstGeom prst="rightArrow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26280" y="1828800"/>
            <a:ext cx="3611880" cy="3657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1828800"/>
            <a:ext cx="36118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ORCHESTRATION — judges + routers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26280" y="2194560"/>
            <a:ext cx="3611880" cy="3154680"/>
          </a:xfrm>
          <a:prstGeom prst="rect">
            <a:avLst/>
          </a:prstGeom>
          <a:solidFill>
            <a:srgbClr val="F0F4FB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2331720"/>
            <a:ext cx="3337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B2A4A"/>
                </a:solidFill>
                <a:latin typeface="Segoe UI"/>
              </a:rPr>
              <a:t>Scheduled LLM classifiers + routers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2560320"/>
            <a:ext cx="33375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  <a:latin typeface="Segoe UI"/>
              </a:rPr>
              <a:t>Detect skill drift, correction language, schema deltas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3044952"/>
            <a:ext cx="3337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B2A4A"/>
                </a:solidFill>
                <a:latin typeface="Segoe UI"/>
              </a:rPr>
              <a:t>Eval gate (90% per domain)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3273552"/>
            <a:ext cx="33375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  <a:latin typeface="Segoe UI"/>
              </a:rPr>
              <a:t>Per-domain accuracy SLA — refuses regressions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3758184"/>
            <a:ext cx="3337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B2A4A"/>
                </a:solidFill>
                <a:latin typeface="Segoe UI"/>
              </a:rPr>
              <a:t>Skill-touch CI hook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3986784"/>
            <a:ext cx="33375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  <a:latin typeface="Segoe UI"/>
              </a:rPr>
              <a:t>Model PR must touch matching skill file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4471416"/>
            <a:ext cx="3337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B2A4A"/>
                </a:solidFill>
                <a:latin typeface="Segoe UI"/>
              </a:rPr>
              <a:t>Frequency-weighted Q-cluster prioritizer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4700016"/>
            <a:ext cx="33375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  <a:latin typeface="Segoe UI"/>
              </a:rPr>
              <a:t>Focuses effort on the long-tail questions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8229600" y="3291840"/>
            <a:ext cx="274320" cy="502920"/>
          </a:xfrm>
          <a:prstGeom prst="rightArrow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95360" y="1828800"/>
            <a:ext cx="3611880" cy="3657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95360" y="1828800"/>
            <a:ext cx="36118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OUTPUTS — actions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95360" y="2194560"/>
            <a:ext cx="3611880" cy="3154680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778240" y="2468880"/>
            <a:ext cx="91440" cy="914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0" y="2404872"/>
            <a:ext cx="31546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Draft skill PRs (auto-tagged to domain owner)</a:t>
            </a:r>
          </a:p>
        </p:txBody>
      </p:sp>
      <p:sp>
        <p:nvSpPr>
          <p:cNvPr id="44" name="Oval 43"/>
          <p:cNvSpPr/>
          <p:nvPr/>
        </p:nvSpPr>
        <p:spPr>
          <a:xfrm>
            <a:off x="8778240" y="2971800"/>
            <a:ext cx="91440" cy="914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0" y="2907792"/>
            <a:ext cx="31546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Eval-set additions (from /feedback)</a:t>
            </a:r>
          </a:p>
        </p:txBody>
      </p:sp>
      <p:sp>
        <p:nvSpPr>
          <p:cNvPr id="46" name="Oval 45"/>
          <p:cNvSpPr/>
          <p:nvPr/>
        </p:nvSpPr>
        <p:spPr>
          <a:xfrm>
            <a:off x="8778240" y="3474720"/>
            <a:ext cx="91440" cy="914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1120" y="3410712"/>
            <a:ext cx="31546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Schema-drift alerts (to domain owner)</a:t>
            </a:r>
          </a:p>
        </p:txBody>
      </p:sp>
      <p:sp>
        <p:nvSpPr>
          <p:cNvPr id="48" name="Oval 47"/>
          <p:cNvSpPr/>
          <p:nvPr/>
        </p:nvSpPr>
        <p:spPr>
          <a:xfrm>
            <a:off x="8778240" y="3977640"/>
            <a:ext cx="91440" cy="914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61120" y="3913632"/>
            <a:ext cx="31546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Stale-skill flags (source doc deprecated / table retired)</a:t>
            </a:r>
          </a:p>
        </p:txBody>
      </p:sp>
      <p:sp>
        <p:nvSpPr>
          <p:cNvPr id="50" name="Oval 49"/>
          <p:cNvSpPr/>
          <p:nvPr/>
        </p:nvSpPr>
        <p:spPr>
          <a:xfrm>
            <a:off x="8778240" y="4480560"/>
            <a:ext cx="91440" cy="914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61120" y="4416552"/>
            <a:ext cx="31546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Accuracy dashboard per domain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532120"/>
            <a:ext cx="11247120" cy="777240"/>
          </a:xfrm>
          <a:prstGeom prst="rect">
            <a:avLst/>
          </a:prstGeom>
          <a:solidFill>
            <a:srgbClr val="14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5596128"/>
            <a:ext cx="108813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6FB0D9"/>
                </a:solidFill>
                <a:latin typeface="Segoe UI"/>
              </a:rPr>
              <a:t>Three rules of the machine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5879592"/>
            <a:ext cx="36576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1. </a:t>
            </a:r>
            <a:r>
              <a:rPr sz="1000" b="1" i="0">
                <a:solidFill>
                  <a:srgbClr val="FFFFFF"/>
                </a:solidFill>
                <a:latin typeface="Segoe UI"/>
              </a:rPr>
              <a:t>Every input becomes a trigger.</a:t>
            </a:r>
            <a:r>
              <a:rPr sz="1000" b="0" i="0">
                <a:solidFill>
                  <a:srgbClr val="B7CFE6"/>
                </a:solidFill>
                <a:latin typeface="Segoe UI"/>
              </a:rPr>
              <a:t> A new Confluence page is a signal to verify the routing.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89120" y="5879592"/>
            <a:ext cx="36576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2. </a:t>
            </a:r>
            <a:r>
              <a:rPr sz="1000" b="1" i="0">
                <a:solidFill>
                  <a:srgbClr val="FFFFFF"/>
                </a:solidFill>
                <a:latin typeface="Segoe UI"/>
              </a:rPr>
              <a:t>Every trigger becomes a PR or eval.</a:t>
            </a:r>
            <a:r>
              <a:rPr sz="1000" b="0" i="0">
                <a:solidFill>
                  <a:srgbClr val="B7CFE6"/>
                </a:solidFill>
                <a:latin typeface="Segoe UI"/>
              </a:rPr>
              <a:t> Humans review drafts; the machine does the boring work.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59" y="5879592"/>
            <a:ext cx="36576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3. </a:t>
            </a:r>
            <a:r>
              <a:rPr sz="1000" b="1" i="0">
                <a:solidFill>
                  <a:srgbClr val="FFFFFF"/>
                </a:solidFill>
                <a:latin typeface="Segoe UI"/>
              </a:rPr>
              <a:t>The eval gate is the brain.</a:t>
            </a:r>
            <a:r>
              <a:rPr sz="1000" b="0" i="0">
                <a:solidFill>
                  <a:srgbClr val="B7CFE6"/>
                </a:solidFill>
                <a:latin typeface="Segoe UI"/>
              </a:rPr>
              <a:t> Nothing ships unless the domain's slice clears 90%.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E6BA8"/>
                </a:solidFill>
                <a:latin typeface="Segoe UI"/>
              </a:rPr>
              <a:t>EACH PRIORITY IS ONE PART OF THE SYSTEM ON THE PRIOR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Segoe UI"/>
              </a:rPr>
              <a:t>H2 plan — building the machine, component by component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6677"/>
                </a:solidFill>
                <a:latin typeface="Segoe UI"/>
              </a:rPr>
              <a:t>13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47120" cy="9144"/>
          </a:xfrm>
          <a:prstGeom prst="rect">
            <a:avLst/>
          </a:prstGeom>
          <a:solidFill>
            <a:srgbClr val="DB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01400" cy="3657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35661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1280160"/>
            <a:ext cx="232257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Component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2152" y="1280160"/>
            <a:ext cx="588873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What it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37192" y="1280160"/>
            <a:ext cx="204825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Status today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00200"/>
            <a:ext cx="11201400" cy="713232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8640" y="1773936"/>
            <a:ext cx="365760" cy="365760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773936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1655064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0E6BA8"/>
                </a:solidFill>
                <a:latin typeface="Segoe UI"/>
              </a:rPr>
              <a:t>TRUTH SENSOR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874520"/>
            <a:ext cx="2377440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Segoe UI"/>
              </a:rPr>
              <a:t>Eval substrate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1655064"/>
            <a:ext cx="594360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Synthesize eval set from /feedback (4★+5★ → canonical pairs; 1★+2★ → corrections). CI gate at 90% per domain.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1655064"/>
            <a:ext cx="210312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1">
                <a:solidFill>
                  <a:srgbClr val="556677"/>
                </a:solidFill>
                <a:latin typeface="Segoe UI"/>
              </a:rPr>
              <a:t>Substrate live in /feedback app; harvester + gate logic to be built.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313432"/>
            <a:ext cx="112014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8640" y="2487168"/>
            <a:ext cx="365760" cy="365760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487168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236829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0E6BA8"/>
                </a:solidFill>
                <a:latin typeface="Segoe UI"/>
              </a:rPr>
              <a:t>MODEL-CHANGE WATCHER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2587752"/>
            <a:ext cx="2377440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Segoe UI"/>
              </a:rPr>
              <a:t>Skill-touch CI hook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2368296"/>
            <a:ext cx="594360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Block any DataPlatform PR that changes canonical tables / prep views without touching the matching skill file.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2368296"/>
            <a:ext cx="210312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1">
                <a:solidFill>
                  <a:srgbClr val="556677"/>
                </a:solidFill>
                <a:latin typeface="Segoe UI"/>
              </a:rPr>
              <a:t>New, single PR.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026664"/>
            <a:ext cx="11201400" cy="713232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48640" y="3200400"/>
            <a:ext cx="365760" cy="365760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200400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3081528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0E6BA8"/>
                </a:solidFill>
                <a:latin typeface="Segoe UI"/>
              </a:rPr>
              <a:t>OUTPUT CONTRACT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3300984"/>
            <a:ext cx="2377440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Segoe UI"/>
              </a:rPr>
              <a:t>final-answer-assembly enforced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3081528"/>
            <a:ext cx="594360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Every answer ships with confidence + metric definition + source tier + skill_id@sha (MCP + Genie Code via assistant instructions).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3081528"/>
            <a:ext cx="210312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1">
                <a:solidFill>
                  <a:srgbClr val="556677"/>
                </a:solidFill>
                <a:latin typeface="Segoe UI"/>
              </a:rPr>
              <a:t>Pattern authored in library; routing change only.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739896"/>
            <a:ext cx="11201400" cy="1005840"/>
          </a:xfrm>
          <a:prstGeom prst="rect">
            <a:avLst/>
          </a:prstGeom>
          <a:solidFill>
            <a:srgbClr val="FFECEF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8640" y="4059936"/>
            <a:ext cx="365760" cy="36576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059936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3794760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C62828"/>
                </a:solidFill>
                <a:latin typeface="Segoe UI"/>
              </a:rPr>
              <a:t>MULTI-SOURCE WATCHER FLEET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4014216"/>
            <a:ext cx="2377440" cy="7132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Segoe UI"/>
              </a:rPr>
              <a:t>the heart of the machine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3794760"/>
            <a:ext cx="5943600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Scheduled jobs that watch and trigger:  (a) MCP user-message logs + /feedback 1–2★ for corrections,  (b) new Confluence pages tagged to a domain,  (c) new SharePoint docs in mapped folders,  (d) UC schema changes via information_schema + UC lineage deltas.  Each → LLM classifier → draft skill-file PR tagged to domain owner.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0" y="3794760"/>
            <a:ext cx="2103120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1">
                <a:solidFill>
                  <a:srgbClr val="556677"/>
                </a:solidFill>
                <a:latin typeface="Segoe UI"/>
              </a:rPr>
              <a:t>NEW. MCP-correction strand can start now (logs are live); Confluence + SharePoint + UC strands reuse the same PR-draft framework.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745736"/>
            <a:ext cx="11201400" cy="713232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8640" y="4919472"/>
            <a:ext cx="365760" cy="365760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919472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4800600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0E6BA8"/>
                </a:solidFill>
                <a:latin typeface="Segoe UI"/>
              </a:rPr>
              <a:t>ABLATION-GRADE TELEMETRY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5020056"/>
            <a:ext cx="2377440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Segoe UI"/>
              </a:rPr>
              <a:t>(bonus)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74720" y="4800600"/>
            <a:ext cx="594360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Enrich monitoring_mcp_logs_mcp_gateway + Genie sibling table with skill_version_sha, model_id, token_in/out, latency_ms.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9760" y="4800600"/>
            <a:ext cx="210312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1">
                <a:solidFill>
                  <a:srgbClr val="556677"/>
                </a:solidFill>
                <a:latin typeface="Segoe UI"/>
              </a:rPr>
              <a:t>New columns + writer changes.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458968"/>
            <a:ext cx="112014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48640" y="5632704"/>
            <a:ext cx="365760" cy="365760"/>
          </a:xfrm>
          <a:prstGeom prst="ellipse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5632704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" y="5513832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F9A825"/>
                </a:solidFill>
                <a:latin typeface="Segoe UI"/>
              </a:rPr>
              <a:t>OPEN DECISION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" y="5733288"/>
            <a:ext cx="2377440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Segoe UI"/>
              </a:rPr>
              <a:t>10-KPI UC-metric-view pilot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74720" y="5513832"/>
            <a:ext cx="594360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Yes / no on a thin declarative semantic layer on top of etoro_kpi. Lift over canonical-view routing isn't proven for our shape.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09760" y="5513832"/>
            <a:ext cx="210312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1">
                <a:solidFill>
                  <a:srgbClr val="556677"/>
                </a:solidFill>
                <a:latin typeface="Segoe UI"/>
              </a:rPr>
              <a:t>Decision in H2 planning.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6677"/>
                </a:solidFill>
                <a:latin typeface="Segoe UI"/>
              </a:rPr>
              <a:t>NOT on the list: adversarial review enforcement (Slide 6 — deliberate non-adoption); promoting the full unbook triple to auto-fire (Slide 7 — open beyond candidate (a)).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E6BA8"/>
                </a:solidFill>
                <a:latin typeface="Segoe UI"/>
              </a:rPr>
              <a:t>WHAT WE NEED FROM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Segoe UI"/>
              </a:rPr>
              <a:t>Asks of 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6677"/>
                </a:solidFill>
                <a:latin typeface="Segoe UI"/>
              </a:rPr>
              <a:t>14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47120" cy="9144"/>
          </a:xfrm>
          <a:prstGeom prst="rect">
            <a:avLst/>
          </a:prstGeom>
          <a:solidFill>
            <a:srgbClr val="DB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155680" cy="2377440"/>
          </a:xfrm>
          <a:prstGeom prst="rect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80160"/>
            <a:ext cx="106984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  <a:latin typeface="Segoe UI"/>
              </a:rPr>
              <a:t>PRIMARY 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27632"/>
            <a:ext cx="106984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Segoe UI"/>
              </a:rPr>
              <a:t>Assign domain owners and commit them to the eval 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48840"/>
            <a:ext cx="106984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1A1A2E"/>
                </a:solidFill>
                <a:latin typeface="Segoe UI"/>
              </a:rPr>
              <a:t>The machine has one human-in-the-loop role that cannot be automated: the domain owner who adjudicates ground truth for their slice. Per Anthropic — non-negotiable.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10698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A2E"/>
                </a:solidFill>
                <a:latin typeface="Segoe UI"/>
              </a:rPr>
              <a:t>• Internal teams </a:t>
            </a:r>
            <a:r>
              <a:rPr sz="1100" b="0" i="0">
                <a:solidFill>
                  <a:srgbClr val="1A1A2E"/>
                </a:solidFill>
                <a:latin typeface="Segoe UI"/>
              </a:rPr>
              <a:t>(Data Analytics, Product Analytics — inside our org): </a:t>
            </a:r>
            <a:r>
              <a:rPr sz="1100" b="1" i="0">
                <a:solidFill>
                  <a:srgbClr val="C62828"/>
                </a:solidFill>
                <a:latin typeface="Segoe UI"/>
              </a:rPr>
              <a:t>can be mandated. </a:t>
            </a:r>
            <a:r>
              <a:rPr sz="1100" b="0" i="0">
                <a:solidFill>
                  <a:srgbClr val="1A1A2E"/>
                </a:solidFill>
                <a:latin typeface="Segoe UI"/>
              </a:rPr>
              <a:t>Domain ownership assigned; team signs off on the eval slice.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100" b="1" i="0">
                <a:solidFill>
                  <a:srgbClr val="1A1A2E"/>
                </a:solidFill>
                <a:latin typeface="Segoe UI"/>
              </a:rPr>
              <a:t>• Cross-functional business domains </a:t>
            </a:r>
            <a:r>
              <a:rPr sz="1100" b="0" i="0">
                <a:solidFill>
                  <a:srgbClr val="1A1A2E"/>
                </a:solidFill>
                <a:latin typeface="Segoe UI"/>
              </a:rPr>
              <a:t>(Marketing, Trading Ops, Payments, US Ops, Compliance…): </a:t>
            </a:r>
            <a:r>
              <a:rPr sz="1100" b="1" i="0">
                <a:solidFill>
                  <a:srgbClr val="C62828"/>
                </a:solidFill>
                <a:latin typeface="Segoe UI"/>
              </a:rPr>
              <a:t>needs leadership-level comms. </a:t>
            </a:r>
            <a:r>
              <a:rPr sz="1100" b="0" i="0">
                <a:solidFill>
                  <a:srgbClr val="1A1A2E"/>
                </a:solidFill>
                <a:latin typeface="Segoe UI"/>
              </a:rPr>
              <a:t>Message: "the agent will give your users wrong answers unless your team owns the eval slice. We build the substrate; you adjudicate ground truth." Without this we stall at ~75%.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49039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Segoe UI"/>
              </a:rPr>
              <a:t>And three smaller asks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60520"/>
            <a:ext cx="457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E6BA8"/>
                </a:solidFill>
                <a:latin typeface="Segoe UI"/>
              </a:rP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160520"/>
            <a:ext cx="105156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2A4A"/>
                </a:solidFill>
                <a:latin typeface="Segoe UI"/>
              </a:rPr>
              <a:t>Greenlight the machine's first watchers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53128"/>
            <a:ext cx="105156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Skill-touch CI hook on DataPlatform (one PR, no product impact) + MCP correction harvester (scheduled job on logs that already exist — ready to start now).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73752"/>
            <a:ext cx="457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E6BA8"/>
                </a:solidFill>
                <a:latin typeface="Segoe UI"/>
              </a:rPr>
              <a:t>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873752"/>
            <a:ext cx="105156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2A4A"/>
                </a:solidFill>
                <a:latin typeface="Segoe UI"/>
              </a:rPr>
              <a:t>Commit a baseline accuracy number for H2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166360"/>
            <a:ext cx="105156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Suggested floor: 75% on top 4 domains by Q3, 90% by Q4. The machine without a target is just plumbing.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86984"/>
            <a:ext cx="457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E6BA8"/>
                </a:solidFill>
                <a:latin typeface="Segoe UI"/>
              </a:rPr>
              <a:t>4.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586984"/>
            <a:ext cx="105156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2A4A"/>
                </a:solidFill>
                <a:latin typeface="Segoe UI"/>
              </a:rPr>
              <a:t>Decision on the 10-KPI UC-metric-view 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879592"/>
            <a:ext cx="105156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Yes / no on a thin semantic-layer pilot in H2. We have the canonical views; this is the declarative wrapper on top.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E6BA8"/>
                </a:solidFill>
                <a:latin typeface="Segoe UI"/>
              </a:rPr>
              <a:t>TAKE THIS BACK TO THE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Segoe UI"/>
              </a:rPr>
              <a:t>One-page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6677"/>
                </a:solidFill>
                <a:latin typeface="Segoe UI"/>
              </a:rPr>
              <a:t>15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47120" cy="9144"/>
          </a:xfrm>
          <a:prstGeom prst="rect">
            <a:avLst/>
          </a:prstGeom>
          <a:solidFill>
            <a:srgbClr val="DB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155680" cy="914400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61872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E6BA8"/>
                </a:solidFill>
                <a:latin typeface="Segoe UI"/>
              </a:rPr>
              <a:t>The big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106984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We're done authoring skills as static artifacts. H2 is about building THE MACHINE — an autonomous knowledge system that watches Confluence, SharePoint, UC schema, MCP/Genie telemetry, and /feedback grades, and turns every signal into a draft skill PR or an eval-set entry, gated by a per-domain accuracy SLA.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48840"/>
            <a:ext cx="11155680" cy="914400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21992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E6BA8"/>
                </a:solidFill>
                <a:latin typeface="Segoe UI"/>
              </a:rPr>
              <a:t>Where we 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96312"/>
            <a:ext cx="106984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5 green / 6 yellow / 4 red against Anthropic's framework — 1 red is a deliberate non-adoption. Skills + telemetry + repo colocation + the /feedback app are the real strengths.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08960"/>
            <a:ext cx="11155680" cy="914400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82112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E6BA8"/>
                </a:solidFill>
                <a:latin typeface="Segoe UI"/>
              </a:rPr>
              <a:t>Two assets most teams don't have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56432"/>
            <a:ext cx="106984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(1) /feedback app — eval-building, solved.   (2) Three-skill analysis triple — substance of an unbook, decomposed better than Anthropic's. Analyst-triggered today; we may promote one cheap subset to auto-fire.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069080"/>
            <a:ext cx="11155680" cy="914400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42232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E6BA8"/>
                </a:solidFill>
                <a:latin typeface="Segoe UI"/>
              </a:rPr>
              <a:t>One thing we're rejecting on purpose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16552"/>
            <a:ext cx="106984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Mandatory adversarial review on every answer — economics don't pencil (+72% latency for +6% accuracy). Pattern stays for manual high-stakes use.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029200"/>
            <a:ext cx="11155680" cy="914400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102352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E6BA8"/>
                </a:solidFill>
                <a:latin typeface="Segoe UI"/>
              </a:rPr>
              <a:t>Five components of the machine (Slide 13)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76672"/>
            <a:ext cx="106984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(1) Truth sensor — eval substrate · (2) Model-change watcher · (3) Output contract · (4) MULTI-SOURCE WATCHER FLEET (MCP corrections + Confluence + SharePoint + UC schema deltas) — the heart of the machine · (5) Ablation-grade telemetry. Open: 10-KPI metric-view pilot.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035040"/>
            <a:ext cx="11155680" cy="5943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6062472"/>
            <a:ext cx="106984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1">
                <a:solidFill>
                  <a:srgbClr val="FFFFFF"/>
                </a:solidFill>
                <a:latin typeface="Segoe UI"/>
              </a:rPr>
              <a:t>"We're not asking for budget to write more skills. We're asking for the green light to build the system that writes them — and the domain owners to staff its accuracy gate."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E6BA8"/>
                </a:solidFill>
                <a:latin typeface="Segoe UI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Segoe UI"/>
              </a:rPr>
              <a:t>Appendix — sources &amp; artefacts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6677"/>
                </a:solidFill>
                <a:latin typeface="Segoe UI"/>
              </a:rPr>
              <a:t>16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47120" cy="9144"/>
          </a:xfrm>
          <a:prstGeom prst="rect">
            <a:avLst/>
          </a:prstGeom>
          <a:solidFill>
            <a:srgbClr val="DB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3291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B2A4A"/>
                </a:solidFill>
                <a:latin typeface="Segoe UI"/>
              </a:rPr>
              <a:t>Article (source of comparison)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280160"/>
            <a:ext cx="77724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How Anthropic enables self-service data analytics with Claude — claude.com/blog, 2026-06-03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47088"/>
            <a:ext cx="3291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B2A4A"/>
                </a:solidFill>
                <a:latin typeface="Segoe UI"/>
              </a:rPr>
              <a:t>Internal briefs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847088"/>
            <a:ext cx="77724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proposals/skill-curation-from-nl-and-queries-2026-05-31.md · proposals/skills-mcp-protocol-parity-implementation-2026-06-03.md · dab/monitoring-genie-logs/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14016"/>
            <a:ext cx="3291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B2A4A"/>
                </a:solidFill>
                <a:latin typeface="Segoe UI"/>
              </a:rPr>
              <a:t>Skill corpus (knowledge router)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414016"/>
            <a:ext cx="77724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databricks/data-skills/skills/domain-*/ on DataPlatform (CI-deployed)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80944"/>
            <a:ext cx="3291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B2A4A"/>
                </a:solidFill>
                <a:latin typeface="Segoe UI"/>
              </a:rPr>
              <a:t>Skill corpus (unbook triple)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980944"/>
            <a:ext cx="77724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/.assistant/skills/data-analysis-playbook · /.assistant/skills/data-analysis-patterns · /.assistant/skills/data-analysis-pattern-library on Databricks Assistant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47872"/>
            <a:ext cx="3291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B2A4A"/>
                </a:solidFill>
                <a:latin typeface="Segoe UI"/>
              </a:rPr>
              <a:t>Workspace assistant defaults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547872"/>
            <a:ext cx="77724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/.assistant_workspace_instructions.md at Databricks workspace root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3291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B2A4A"/>
                </a:solidFill>
                <a:latin typeface="Segoe UI"/>
              </a:rPr>
              <a:t>Telemetry tables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114800"/>
            <a:ext cx="77724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main.config.monitoring_mcp_logs_mcp_gateway · main.de_output_stg.de_output_monitoring_genie_logs_genie_gateway · main.monitoring.genie_audit_events · main.de_output.de_output_genie_code_skill_feedback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81728"/>
            <a:ext cx="3291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B2A4A"/>
                </a:solidFill>
                <a:latin typeface="Segoe UI"/>
              </a:rPr>
              <a:t>Feedback skill (DA-80 PR)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681728"/>
            <a:ext cx="77724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knowledge/skills/feedback-command/SKILL.md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