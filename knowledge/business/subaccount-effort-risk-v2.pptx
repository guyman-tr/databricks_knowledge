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109728" cy="1828800"/>
          </a:xfrm>
          <a:prstGeom prst="rect">
            <a:avLst/>
          </a:prstGeom>
          <a:solidFill>
            <a:srgbClr val="4F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EAEAEA"/>
                </a:solidFill>
                <a:latin typeface="Calibri"/>
              </a:rPr>
              <a:t>Sub-Account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4FA8FF"/>
                </a:solidFill>
                <a:latin typeface="Calibri"/>
              </a:rPr>
              <a:t>Effort &amp;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A0A0A0"/>
                </a:solidFill>
                <a:latin typeface="Calibri"/>
              </a:rPr>
              <a:t>Five options. For each: the specific risk it creates, and the specific labor that risk forces.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"/>
              </a:rPr>
              <a:t>Source: SubAccount alternatives.pdf  |  Apr 23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EAEAEA"/>
                </a:solidFill>
                <a:latin typeface="Calibri"/>
              </a:rPr>
              <a:t>The two failure modes that drive every option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7548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0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OPTIONS 1 + 4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0B34A"/>
                </a:solidFill>
                <a:latin typeface="Calibri"/>
              </a:rPr>
              <a:t>Fake-user contamination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512064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EAEAEA"/>
                </a:solidFill>
                <a:latin typeface="Calibri"/>
              </a:rPr>
              <a:t>Sub-account looks like a real customer. Must be excluded from population/FTD/registration KPIs but counted in revenue/MIMO/AUM.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A0A0A0"/>
                </a:solidFill>
                <a:latin typeface="Calibri"/>
              </a:rPr>
              <a:t>LABOR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512064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EAEAEA"/>
                </a:solidFill>
                <a:latin typeface="Calibri"/>
              </a:rPr>
              <a:t>~140 SPs</a:t>
            </a:r>
            <a:r>
              <a:rPr sz="1500" b="0">
                <a:solidFill>
                  <a:srgbClr val="EAEAEA"/>
                </a:solidFill>
                <a:latin typeface="Calibri"/>
              </a:rPr>
              <a:t> filter today on </a:t>
            </a:r>
            <a:r>
              <a:rPr sz="1400" b="0">
                <a:solidFill>
                  <a:srgbClr val="EAEAEA"/>
                </a:solidFill>
                <a:latin typeface="Consolas"/>
              </a:rPr>
              <a:t>IsValidCustomer</a:t>
            </a:r>
            <a:r>
              <a:rPr sz="1500" b="0">
                <a:solidFill>
                  <a:srgbClr val="EAEAEA"/>
                </a:solidFill>
                <a:latin typeface="Calibri"/>
              </a:rPr>
              <a:t> or </a:t>
            </a:r>
            <a:r>
              <a:rPr sz="1400" b="0">
                <a:solidFill>
                  <a:srgbClr val="EAEAEA"/>
                </a:solidFill>
                <a:latin typeface="Consolas"/>
              </a:rPr>
              <a:t>IsCreditReportValid</a:t>
            </a:r>
            <a:r>
              <a:rPr sz="1500" b="0">
                <a:solidFill>
                  <a:srgbClr val="EAEAEA"/>
                </a:solidFill>
                <a:latin typeface="Calibri"/>
              </a:rPr>
              <a:t>. Each is a place that must be re-decided.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371600"/>
            <a:ext cx="5486400" cy="47548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2" y="15544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8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OPTIONS 2 + 5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1168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88A3C"/>
                </a:solidFill>
                <a:latin typeface="Calibri"/>
              </a:rPr>
              <a:t>Join fanout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606040"/>
            <a:ext cx="512064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EAEAEA"/>
                </a:solidFill>
                <a:latin typeface="Calibri"/>
              </a:rPr>
              <a:t>A previously 1:1 join becomes 1:N.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017520"/>
            <a:ext cx="512064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05A5A"/>
                </a:solidFill>
                <a:latin typeface="Calibri"/>
              </a:rPr>
              <a:t>Opt 2</a:t>
            </a:r>
            <a:r>
              <a:rPr sz="1400" b="0">
                <a:solidFill>
                  <a:srgbClr val="EAEAEA"/>
                </a:solidFill>
                <a:latin typeface="Calibri"/>
              </a:rPr>
              <a:t> breaks every </a:t>
            </a:r>
            <a:r>
              <a:rPr sz="1300" b="0">
                <a:solidFill>
                  <a:srgbClr val="EAEAEA"/>
                </a:solidFill>
                <a:latin typeface="Consolas"/>
              </a:rPr>
              <a:t>GCID = GCID</a:t>
            </a:r>
            <a:r>
              <a:rPr sz="1400" b="0">
                <a:solidFill>
                  <a:srgbClr val="EAEAEA"/>
                </a:solidFill>
                <a:latin typeface="Calibri"/>
              </a:rPr>
              <a:t> join. Identity-layer change, atomic, ~100+ SPs, hits all 13 Priority 99 finance reports.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4434840"/>
            <a:ext cx="512064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0B34A"/>
                </a:solidFill>
                <a:latin typeface="Calibri"/>
              </a:rPr>
              <a:t>Opt 5</a:t>
            </a:r>
            <a:r>
              <a:rPr sz="1400" b="0">
                <a:solidFill>
                  <a:srgbClr val="EAEAEA"/>
                </a:solidFill>
                <a:latin typeface="Calibri"/>
              </a:rPr>
              <a:t> only breaks consumers that join on CID </a:t>
            </a:r>
            <a:r>
              <a:rPr sz="1400" b="1">
                <a:solidFill>
                  <a:srgbClr val="EAEAEA"/>
                </a:solidFill>
                <a:latin typeface="Calibri"/>
              </a:rPr>
              <a:t>without aggregation</a:t>
            </a:r>
            <a:r>
              <a:rPr sz="1400" b="0">
                <a:solidFill>
                  <a:srgbClr val="EAEAEA"/>
                </a:solidFill>
                <a:latin typeface="Calibri"/>
              </a:rPr>
              <a:t>. Aggregating consumers (SUM + GROUP BY CID) absorb it cleanly. Per-table, gradual, audit-gated.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0A0A0"/>
                </a:solidFill>
                <a:latin typeface="Calibri"/>
              </a:rPr>
              <a:t>Sub-Account Architecture | Effort &amp; Risk | Apr 23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A0A0A0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EAEAEA"/>
                </a:solidFill>
                <a:latin typeface="Calibri"/>
              </a:rPr>
              <a:t>Bottom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" cy="457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300" b="1">
                <a:solidFill>
                  <a:srgbClr val="A0A0A0"/>
                </a:solidFill>
                <a:latin typeface="Calibri"/>
              </a:rP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80160"/>
            <a:ext cx="3108960" cy="457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300" b="1">
                <a:solidFill>
                  <a:srgbClr val="A0A0A0"/>
                </a:solidFill>
                <a:latin typeface="Calibri"/>
              </a:rPr>
              <a:t>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280160"/>
            <a:ext cx="1371600" cy="457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300" b="1">
                <a:solidFill>
                  <a:srgbClr val="A0A0A0"/>
                </a:solidFill>
                <a:latin typeface="Calibri"/>
              </a:rPr>
              <a:t>Effort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280160"/>
            <a:ext cx="1463040" cy="457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300" b="1">
                <a:solidFill>
                  <a:srgbClr val="A0A0A0"/>
                </a:solidFill>
                <a:latin typeface="Calibri"/>
              </a:rPr>
              <a:t>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280160"/>
            <a:ext cx="4754880" cy="457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/>
          <a:lstStyle/>
          <a:p>
            <a:pPr algn="ctr"/>
            <a:r>
              <a:rPr sz="1300" b="1">
                <a:solidFill>
                  <a:srgbClr val="A0A0A0"/>
                </a:solidFill>
                <a:latin typeface="Calibri"/>
              </a:rPr>
              <a:t>What the labor actually 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4FA8FF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737360"/>
            <a:ext cx="310896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EAEAEA"/>
                </a:solidFill>
                <a:latin typeface="Calibri"/>
              </a:rPr>
              <a:t>Mirror No-Copy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737360"/>
            <a:ext cx="137160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4AC46B"/>
                </a:solidFill>
                <a:latin typeface="Calibri"/>
              </a:rPr>
              <a:t>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737360"/>
            <a:ext cx="146304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4AC46B"/>
                </a:solidFill>
                <a:latin typeface="Calibri"/>
              </a:rPr>
              <a:t>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737360"/>
            <a:ext cx="475488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>
                <a:solidFill>
                  <a:srgbClr val="EAEAEA"/>
                </a:solidFill>
                <a:latin typeface="Calibri"/>
              </a:rPr>
              <a:t>1 dictionary row + 1 API scope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54864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4FA8FF"/>
                </a:solidFill>
                <a:latin typeface="Calibri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377440"/>
            <a:ext cx="310896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EAEAEA"/>
                </a:solidFill>
                <a:latin typeface="Calibri"/>
              </a:rPr>
              <a:t>Mirror + Copy (bot CID)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377440"/>
            <a:ext cx="137160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E0B34A"/>
                </a:solidFill>
                <a:latin typeface="Calibri"/>
              </a:rPr>
              <a:t>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377440"/>
            <a:ext cx="146304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E0B34A"/>
                </a:solidFill>
                <a:latin typeface="Calibri"/>
              </a:rPr>
              <a:t>MEDIUM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2377440"/>
            <a:ext cx="475488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>
                <a:solidFill>
                  <a:srgbClr val="EAEAEA"/>
                </a:solidFill>
                <a:latin typeface="Calibri"/>
              </a:rPr>
              <a:t>Validity-filter audit (~140 SPs)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54864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4FA8FF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017520"/>
            <a:ext cx="310896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EAEAEA"/>
                </a:solidFill>
                <a:latin typeface="Calibri"/>
              </a:rPr>
              <a:t>New GCID + CID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017520"/>
            <a:ext cx="137160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E0B34A"/>
                </a:solidFill>
                <a:latin typeface="Calibri"/>
              </a:rP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3017520"/>
            <a:ext cx="146304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E0B34A"/>
                </a:solidFill>
                <a:latin typeface="Calibri"/>
              </a:rPr>
              <a:t>MED-HIGH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3017520"/>
            <a:ext cx="475488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>
                <a:solidFill>
                  <a:srgbClr val="EAEAEA"/>
                </a:solidFill>
                <a:latin typeface="Calibri"/>
              </a:rPr>
              <a:t>Per-KPI bifurcation (~140 SPs)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54864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4FA8FF"/>
                </a:solidFill>
                <a:latin typeface="Calibr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657600"/>
            <a:ext cx="310896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EAEAEA"/>
                </a:solidFill>
                <a:latin typeface="Calibri"/>
              </a:rPr>
              <a:t>SubPortfolio table (gradual)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3657600"/>
            <a:ext cx="137160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E88A3C"/>
                </a:solidFill>
                <a:latin typeface="Calibri"/>
              </a:rPr>
              <a:t>MED-HIGH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3657600"/>
            <a:ext cx="146304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E88A3C"/>
                </a:solidFill>
                <a:latin typeface="Calibri"/>
              </a:rPr>
              <a:t>MEDIUM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657600"/>
            <a:ext cx="475488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>
                <a:solidFill>
                  <a:srgbClr val="EAEAEA"/>
                </a:solidFill>
                <a:latin typeface="Calibri"/>
              </a:rPr>
              <a:t>Per-table consumer audit, 1 table at a 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97680"/>
            <a:ext cx="54864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4FA8FF"/>
                </a:solidFill>
                <a:latin typeface="Calibr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4297680"/>
            <a:ext cx="310896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EAEAEA"/>
                </a:solidFill>
                <a:latin typeface="Calibri"/>
              </a:rPr>
              <a:t>New CID -&gt; Same GCID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4297680"/>
            <a:ext cx="137160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E05A5A"/>
                </a:solidFill>
                <a:latin typeface="Calibri"/>
              </a:rPr>
              <a:t>CRITICAL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4297680"/>
            <a:ext cx="146304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 b="1">
                <a:solidFill>
                  <a:srgbClr val="E05A5A"/>
                </a:solidFill>
                <a:latin typeface="Calibri"/>
              </a:rPr>
              <a:t>CRITICAL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4297680"/>
            <a:ext cx="475488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09728"/>
          <a:lstStyle/>
          <a:p>
            <a:pPr algn="ctr"/>
            <a:r>
              <a:rPr sz="1400">
                <a:solidFill>
                  <a:srgbClr val="EAEAEA"/>
                </a:solidFill>
                <a:latin typeface="Calibri"/>
              </a:rPr>
              <a:t>Schema migration of identity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0A0A0"/>
                </a:solidFill>
                <a:latin typeface="Calibri"/>
              </a:rPr>
              <a:t>Sub-Account Architecture | Effort &amp; Risk | Apr 23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A0A0A0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A0A0A0"/>
                </a:solidFill>
                <a:latin typeface="Calibri"/>
              </a:rPr>
              <a:t>Option 3  </a:t>
            </a:r>
            <a:r>
              <a:rPr sz="2800" b="1">
                <a:solidFill>
                  <a:srgbClr val="EAEAEA"/>
                </a:solidFill>
                <a:latin typeface="Calibri"/>
              </a:rPr>
              <a:t>Mirror No-Copy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457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4AC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Effort 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457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4AC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Risk 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777240"/>
          </a:xfrm>
          <a:prstGeom prst="roundRect">
            <a:avLst>
              <a:gd name="adj" fmla="val 4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4FA8FF"/>
                </a:solidFill>
                <a:latin typeface="Calibri"/>
              </a:rPr>
              <a:t>Add a MirrorTypeID. No new identity, no new joins, no fake users.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05A5A"/>
                </a:solidFill>
                <a:latin typeface="Calibri"/>
              </a:rPr>
              <a:t>THE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EAEAEA"/>
                </a:solidFill>
                <a:latin typeface="Calibri"/>
              </a:rPr>
              <a:t>None of consequence. Same row stays in every consumer.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0B34A"/>
                </a:solidFill>
                <a:latin typeface="Calibri"/>
              </a:rPr>
              <a:t>THE LABOR IT CREATES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124712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EAEAEA"/>
                </a:solidFill>
                <a:latin typeface="Calibri"/>
              </a:rPr>
              <a:t>Add 1 row to Dictionary.MirrorType. Plumb mirrorID into the trading API JWT scope. Decide private-instrument visibility for the sub-account.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6072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2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8A3C"/>
                </a:solidFill>
                <a:latin typeface="Calibri"/>
              </a:rPr>
              <a:t>HARD CEILING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Calibri"/>
              </a:rPr>
              <a:t>No copy support inside the sub-account.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0A0A0"/>
                </a:solidFill>
                <a:latin typeface="Calibri"/>
              </a:rPr>
              <a:t>Sub-Account Architecture | Effort &amp; Risk | Apr 23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A0A0A0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A0A0A0"/>
                </a:solidFill>
                <a:latin typeface="Calibri"/>
              </a:rPr>
              <a:t>Option 4  </a:t>
            </a:r>
            <a:r>
              <a:rPr sz="2800" b="1">
                <a:solidFill>
                  <a:srgbClr val="EAEAEA"/>
                </a:solidFill>
                <a:latin typeface="Calibri"/>
              </a:rPr>
              <a:t>Mirror + Copy (bot CID)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457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0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Effort MEDIUM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457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0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Risk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777240"/>
          </a:xfrm>
          <a:prstGeom prst="roundRect">
            <a:avLst>
              <a:gd name="adj" fmla="val 4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4FA8FF"/>
                </a:solidFill>
                <a:latin typeface="Calibri"/>
              </a:rPr>
              <a:t>Real bot accounts created underneath the user; copy engine handles trading.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05A5A"/>
                </a:solidFill>
                <a:latin typeface="Calibri"/>
              </a:rPr>
              <a:t>THE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EAEAEA"/>
                </a:solidFill>
                <a:latin typeface="Calibri"/>
              </a:rPr>
              <a:t>Bot CID looks like a real customer everywhere. Pollutes user counts, FTD, registrations, AML alerts, KYC pipeline. Compliance pattern flag: a customer with zero organic activity that only ever copies one CID is exactly what AML alerts trigger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0B34A"/>
                </a:solidFill>
                <a:latin typeface="Calibri"/>
              </a:rPr>
              <a:t>THE LABOR IT CREATES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124712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EAEAEA"/>
                </a:solidFill>
                <a:latin typeface="Calibri"/>
              </a:rPr>
              <a:t>Add IsBotAccount (or extend IsInternal) at the OLTP customer record. Then add it to the WHERE clause of every analytics SP currently filtering by IsValidCustomer and IsCreditReportValid - ~140 SPs. AML/KYC pipelines need explicit review (they may want to keep watching bot CIDs even when other reports exclude them).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0A0A0"/>
                </a:solidFill>
                <a:latin typeface="Calibri"/>
              </a:rPr>
              <a:t>Sub-Account Architecture | Effort &amp; Risk | Apr 23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A0A0A0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A0A0A0"/>
                </a:solidFill>
                <a:latin typeface="Calibri"/>
              </a:rPr>
              <a:t>Option 1  </a:t>
            </a:r>
            <a:r>
              <a:rPr sz="2800" b="1">
                <a:solidFill>
                  <a:srgbClr val="EAEAEA"/>
                </a:solidFill>
                <a:latin typeface="Calibri"/>
              </a:rPr>
              <a:t>New GCID + CID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457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0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Effort HIGH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457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0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Risk MED-HIGH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777240"/>
          </a:xfrm>
          <a:prstGeom prst="roundRect">
            <a:avLst>
              <a:gd name="adj" fmla="val 4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4FA8FF"/>
                </a:solidFill>
                <a:latin typeface="Calibri"/>
              </a:rPr>
              <a:t>Sub-account is a fully separate customer. User logs in twice.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05A5A"/>
                </a:solidFill>
                <a:latin typeface="Calibri"/>
              </a:rPr>
              <a:t>THE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EAEAEA"/>
                </a:solidFill>
                <a:latin typeface="Calibri"/>
              </a:rPr>
              <a:t>Same fake-user contamination as Option 4, plus acquisition KPIs (FTD, Registrations, valid-customer counts) inflate per sub-account. Tax filings (1099, W8Ben) emit per GCID, so a sub-GCID = duplicate IRS filing risk if not excluded.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0B34A"/>
                </a:solidFill>
                <a:latin typeface="Calibri"/>
              </a:rPr>
              <a:t>THE LABOR IT CREATES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124712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EAEAEA"/>
                </a:solidFill>
                <a:latin typeface="Calibri"/>
              </a:rPr>
              <a:t>Same IsBotAccount-style plumbing as Option 4, but you also decide PER-METRIC whether the sub-GCID is counted (revenue/MIMO/AUM = yes; FTD/Registration/valid-customer = no). Two deploys, not one. Same ~140 SP review surface, with bigger semantic decisions per SP.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0A0A0"/>
                </a:solidFill>
                <a:latin typeface="Calibri"/>
              </a:rPr>
              <a:t>Sub-Account Architecture | Effort &amp; Risk | Apr 23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A0A0A0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A0A0A0"/>
                </a:solidFill>
                <a:latin typeface="Calibri"/>
              </a:rPr>
              <a:t>Option 5  </a:t>
            </a:r>
            <a:r>
              <a:rPr sz="2800" b="1">
                <a:solidFill>
                  <a:srgbClr val="EAEAEA"/>
                </a:solidFill>
                <a:latin typeface="Calibri"/>
              </a:rPr>
              <a:t>SubPortfolio table (gradual)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457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8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Effort MED-HIGH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457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0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Risk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777240"/>
          </a:xfrm>
          <a:prstGeom prst="roundRect">
            <a:avLst>
              <a:gd name="adj" fmla="val 4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4FA8FF"/>
                </a:solidFill>
                <a:latin typeface="Calibri"/>
              </a:rPr>
              <a:t>New (CID, SubPortfolioID) grain on selected tables. No fake users, no PK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05A5A"/>
                </a:solidFill>
                <a:latin typeface="Calibri"/>
              </a:rPr>
              <a:t>THE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EAEAEA"/>
                </a:solidFill>
                <a:latin typeface="Calibri"/>
              </a:rPr>
              <a:t>Per broken table, any consumer that joins on CID without subsequent aggregation gets row fanout. Aggregating consumers (SUM + GROUP BY CID downstream) absorb it cleanly. Probably not huge but not currently quantified.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0B34A"/>
                </a:solidFill>
                <a:latin typeface="Calibri"/>
              </a:rPr>
              <a:t>THE LABOR IT CREATES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124712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EAEAEA"/>
                </a:solidFill>
                <a:latin typeface="Calibri"/>
              </a:rPr>
              <a:t>Per table you choose to break: classify every direct consumer as (a) aggregator -&gt; safe, (b) pass-through-by-CID -&gt; must be updated. One table at a time, audit-gated. Save Priority 99 finance SPs for last.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6072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2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88A3C"/>
                </a:solidFill>
                <a:latin typeface="Calibri"/>
              </a:rPr>
              <a:t>GATE BEFORE COMMITTING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AEAEA"/>
                </a:solidFill>
                <a:latin typeface="Calibri"/>
              </a:rPr>
              <a:t>Half-day static SQL scan: per producer table, list direct consumers and classify each as safe (has SUM + GROUP BY CID downstream) or unsafe (selects CID rows without aggregation). Turns Option 5 risk into a sized backlog.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0A0A0"/>
                </a:solidFill>
                <a:latin typeface="Calibri"/>
              </a:rPr>
              <a:t>Sub-Account Architecture | Effort &amp; Risk | Apr 23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A0A0A0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A0A0A0"/>
                </a:solidFill>
                <a:latin typeface="Calibri"/>
              </a:rPr>
              <a:t>Option 2  </a:t>
            </a:r>
            <a:r>
              <a:rPr sz="2800" b="1">
                <a:solidFill>
                  <a:srgbClr val="EAEAEA"/>
                </a:solidFill>
                <a:latin typeface="Calibri"/>
              </a:rPr>
              <a:t>New CID -&gt; Same GCID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457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Effort CRITICAL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4572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101010"/>
                </a:solidFill>
                <a:latin typeface="Calibri"/>
              </a:rPr>
              <a:t>Risk CRITICAL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777240"/>
          </a:xfrm>
          <a:prstGeom prst="roundRect">
            <a:avLst>
              <a:gd name="adj" fmla="val 4000"/>
            </a:avLst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4FA8FF"/>
                </a:solidFill>
                <a:latin typeface="Calibri"/>
              </a:rPr>
              <a:t>Multiple CIDs share one GCID. Breaks the GCID PK on Customer.CustomerIdentification.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05A5A"/>
                </a:solidFill>
                <a:latin typeface="Calibri"/>
              </a:rPr>
              <a:t>THE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EAEAEA"/>
                </a:solidFill>
                <a:latin typeface="Calibri"/>
              </a:rPr>
              <a:t>Every JOIN ON x.GCID = y.GCID returns N rows where 1 was expected. Hundreds of SPs do this. Identity-layer change, atomic, unrecoverable. Direct hit to all 13 Priority 99 finance reports.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0B34A"/>
                </a:solidFill>
                <a:latin typeface="Calibri"/>
              </a:rPr>
              <a:t>THE LABOR IT CREATES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124712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EAEAEA"/>
                </a:solidFill>
                <a:latin typeface="Calibri"/>
              </a:rPr>
              <a:t>Migrate Customer.CustomerIdentification PK. Update every GCID-keyed JOIN in BI_DB / DWH / Dealing / eMoney / EXW + 5,000+ ComplianceDB objects + every OLTP source DB in lockstep. No partial deploy.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0A0A0"/>
                </a:solidFill>
                <a:latin typeface="Calibri"/>
              </a:rPr>
              <a:t>Sub-Account Architecture | Effort &amp; Risk | Apr 23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A0A0A0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